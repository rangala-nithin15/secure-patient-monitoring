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rial Black" panose="020B0A04020102020204" pitchFamily="34" charset="0"/>
      <p:bold r:id="rId9"/>
    </p:embeddedFont>
    <p:embeddedFont>
      <p:font typeface="Canva Sans" panose="020B0604020202020204" charset="0"/>
      <p:regular r:id="rId10"/>
    </p:embeddedFont>
    <p:embeddedFont>
      <p:font typeface="Canva Sans Bold" panose="020B0604020202020204" charset="0"/>
      <p:regular r:id="rId11"/>
    </p:embeddedFont>
    <p:embeddedFont>
      <p:font typeface="DM Sans Bold" panose="020B0604020202020204" charset="0"/>
      <p:regular r:id="rId12"/>
    </p:embeddedFont>
    <p:embeddedFont>
      <p:font typeface="Montserrat Bold" panose="020B0604020202020204" charset="0"/>
      <p:regular r:id="rId13"/>
    </p:embeddedFont>
    <p:embeddedFont>
      <p:font typeface="Poppins" panose="00000500000000000000" pitchFamily="2" charset="0"/>
      <p:regular r:id="rId14"/>
    </p:embeddedFont>
    <p:embeddedFont>
      <p:font typeface="Poppins Bold" panose="00000800000000000000"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6:26:38.703"/>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6:28:50.892"/>
    </inkml:context>
    <inkml:brush xml:id="br0">
      <inkml:brushProperty name="width" value="0.035" units="cm"/>
      <inkml:brushProperty name="height" value="0.035" units="cm"/>
      <inkml:brushProperty name="color" value="#FFFFFF"/>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3T06:26:38.703"/>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image" Target="../media/image13.png"/><Relationship Id="rId16"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5" Type="http://schemas.openxmlformats.org/officeDocument/2006/relationships/image" Target="../media/image2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29.png"/><Relationship Id="rId7" Type="http://schemas.openxmlformats.org/officeDocument/2006/relationships/hyperlink" Target="https://drive.google.com/file/d/1yPuH1c0k_oOb0QgqlO_QbKkCHWzLWa1J/view?usp=sharing" TargetMode="Externa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p:sp>
        <p:nvSpPr>
          <p:cNvPr id="2" name="TextBox 2"/>
          <p:cNvSpPr txBox="1"/>
          <p:nvPr/>
        </p:nvSpPr>
        <p:spPr>
          <a:xfrm>
            <a:off x="1960721" y="2624917"/>
            <a:ext cx="14366558" cy="679450"/>
          </a:xfrm>
          <a:prstGeom prst="rect">
            <a:avLst/>
          </a:prstGeom>
        </p:spPr>
        <p:txBody>
          <a:bodyPr lIns="0" tIns="0" rIns="0" bIns="0" rtlCol="0" anchor="t">
            <a:spAutoFit/>
          </a:bodyPr>
          <a:lstStyle/>
          <a:p>
            <a:pPr algn="ctr">
              <a:lnSpc>
                <a:spcPts val="5599"/>
              </a:lnSpc>
              <a:spcBef>
                <a:spcPct val="0"/>
              </a:spcBef>
            </a:pPr>
            <a:r>
              <a:rPr lang="en-US" sz="3999" b="1">
                <a:solidFill>
                  <a:srgbClr val="2B0934"/>
                </a:solidFill>
                <a:latin typeface="Canva Sans Bold"/>
                <a:ea typeface="Canva Sans Bold"/>
                <a:cs typeface="Canva Sans Bold"/>
                <a:sym typeface="Canva Sans Bold"/>
              </a:rPr>
              <a:t>HK09 - Secure IOT BASED PATIENT MONITORING SYSTEM </a:t>
            </a:r>
          </a:p>
        </p:txBody>
      </p:sp>
      <p:sp>
        <p:nvSpPr>
          <p:cNvPr id="3" name="TextBox 3"/>
          <p:cNvSpPr txBox="1"/>
          <p:nvPr/>
        </p:nvSpPr>
        <p:spPr>
          <a:xfrm>
            <a:off x="4180591" y="627387"/>
            <a:ext cx="9926819" cy="1088375"/>
          </a:xfrm>
          <a:prstGeom prst="rect">
            <a:avLst/>
          </a:prstGeom>
        </p:spPr>
        <p:txBody>
          <a:bodyPr lIns="0" tIns="0" rIns="0" bIns="0" rtlCol="0" anchor="t">
            <a:spAutoFit/>
          </a:bodyPr>
          <a:lstStyle/>
          <a:p>
            <a:pPr algn="l">
              <a:lnSpc>
                <a:spcPts val="4884"/>
              </a:lnSpc>
            </a:pPr>
            <a:r>
              <a:rPr lang="en-US" sz="6522" b="1">
                <a:solidFill>
                  <a:srgbClr val="2B0934"/>
                </a:solidFill>
                <a:latin typeface="Montserrat Bold"/>
                <a:ea typeface="Montserrat Bold"/>
                <a:cs typeface="Montserrat Bold"/>
                <a:sym typeface="Montserrat Bold"/>
              </a:rPr>
              <a:t>PROBLEM STATEMENT</a:t>
            </a:r>
          </a:p>
          <a:p>
            <a:pPr algn="l">
              <a:lnSpc>
                <a:spcPts val="6007"/>
              </a:lnSpc>
            </a:pPr>
            <a:endParaRPr lang="en-US" sz="6522" b="1">
              <a:solidFill>
                <a:srgbClr val="2B0934"/>
              </a:solidFill>
              <a:latin typeface="Montserrat Bold"/>
              <a:ea typeface="Montserrat Bold"/>
              <a:cs typeface="Montserrat Bold"/>
              <a:sym typeface="Montserrat Bold"/>
            </a:endParaRPr>
          </a:p>
        </p:txBody>
      </p:sp>
      <p:sp>
        <p:nvSpPr>
          <p:cNvPr id="4" name="TextBox 4"/>
          <p:cNvSpPr txBox="1"/>
          <p:nvPr/>
        </p:nvSpPr>
        <p:spPr>
          <a:xfrm>
            <a:off x="1960721" y="4867802"/>
            <a:ext cx="14366558" cy="2647950"/>
          </a:xfrm>
          <a:prstGeom prst="rect">
            <a:avLst/>
          </a:prstGeom>
        </p:spPr>
        <p:txBody>
          <a:bodyPr lIns="0" tIns="0" rIns="0" bIns="0" rtlCol="0" anchor="t">
            <a:spAutoFit/>
          </a:bodyPr>
          <a:lstStyle/>
          <a:p>
            <a:pPr algn="l">
              <a:lnSpc>
                <a:spcPts val="4200"/>
              </a:lnSpc>
              <a:spcBef>
                <a:spcPct val="0"/>
              </a:spcBef>
            </a:pPr>
            <a:r>
              <a:rPr lang="en-US" sz="3000">
                <a:solidFill>
                  <a:srgbClr val="2B0934"/>
                </a:solidFill>
                <a:latin typeface="Canva Sans"/>
                <a:ea typeface="Canva Sans"/>
                <a:cs typeface="Canva Sans"/>
                <a:sym typeface="Canva Sans"/>
              </a:rPr>
              <a:t>In  today’s modern healthcare, patients suffering from chronic diseases, post-surgical complications, or senior patients require continuous health monitoring. However, most existing systems are dependent on periodic manual checkups, which can delay medical response during emergencies and deprive the efficiency of modern patient care and wellness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664637"/>
            <a:ext cx="5045537" cy="1527113"/>
            <a:chOff x="0" y="0"/>
            <a:chExt cx="1038176" cy="314221"/>
          </a:xfrm>
        </p:grpSpPr>
        <p:sp>
          <p:nvSpPr>
            <p:cNvPr id="3" name="Freeform 3"/>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4" name="TextBox 4"/>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5" name="Group 5"/>
          <p:cNvGrpSpPr/>
          <p:nvPr/>
        </p:nvGrpSpPr>
        <p:grpSpPr>
          <a:xfrm>
            <a:off x="1028700" y="5487474"/>
            <a:ext cx="5045537" cy="1527113"/>
            <a:chOff x="0" y="0"/>
            <a:chExt cx="1038176" cy="314221"/>
          </a:xfrm>
        </p:grpSpPr>
        <p:sp>
          <p:nvSpPr>
            <p:cNvPr id="6" name="Freeform 6"/>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7" name="TextBox 7"/>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8" name="Group 8"/>
          <p:cNvGrpSpPr/>
          <p:nvPr/>
        </p:nvGrpSpPr>
        <p:grpSpPr>
          <a:xfrm>
            <a:off x="1028700" y="8199291"/>
            <a:ext cx="5045537" cy="1527113"/>
            <a:chOff x="0" y="0"/>
            <a:chExt cx="1038176" cy="314221"/>
          </a:xfrm>
        </p:grpSpPr>
        <p:sp>
          <p:nvSpPr>
            <p:cNvPr id="9" name="Freeform 9"/>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10" name="TextBox 10"/>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11" name="Group 11"/>
          <p:cNvGrpSpPr/>
          <p:nvPr/>
        </p:nvGrpSpPr>
        <p:grpSpPr>
          <a:xfrm>
            <a:off x="12213741" y="5458899"/>
            <a:ext cx="5045537" cy="1527113"/>
            <a:chOff x="0" y="0"/>
            <a:chExt cx="1038176" cy="314221"/>
          </a:xfrm>
        </p:grpSpPr>
        <p:sp>
          <p:nvSpPr>
            <p:cNvPr id="12" name="Freeform 12"/>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13" name="TextBox 13"/>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14" name="Group 14"/>
          <p:cNvGrpSpPr/>
          <p:nvPr/>
        </p:nvGrpSpPr>
        <p:grpSpPr>
          <a:xfrm>
            <a:off x="12213741" y="2664637"/>
            <a:ext cx="5045537" cy="1527113"/>
            <a:chOff x="0" y="0"/>
            <a:chExt cx="1038176" cy="314221"/>
          </a:xfrm>
        </p:grpSpPr>
        <p:sp>
          <p:nvSpPr>
            <p:cNvPr id="15" name="Freeform 15"/>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16" name="TextBox 16"/>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17" name="Group 17"/>
          <p:cNvGrpSpPr/>
          <p:nvPr/>
        </p:nvGrpSpPr>
        <p:grpSpPr>
          <a:xfrm>
            <a:off x="12213763" y="8200858"/>
            <a:ext cx="5045537" cy="1527113"/>
            <a:chOff x="0" y="0"/>
            <a:chExt cx="1038176" cy="314221"/>
          </a:xfrm>
        </p:grpSpPr>
        <p:sp>
          <p:nvSpPr>
            <p:cNvPr id="18" name="Freeform 18"/>
            <p:cNvSpPr/>
            <p:nvPr/>
          </p:nvSpPr>
          <p:spPr>
            <a:xfrm>
              <a:off x="0" y="0"/>
              <a:ext cx="1038176" cy="314221"/>
            </a:xfrm>
            <a:custGeom>
              <a:avLst/>
              <a:gdLst/>
              <a:ahLst/>
              <a:cxnLst/>
              <a:rect l="l" t="t" r="r" b="b"/>
              <a:pathLst>
                <a:path w="1038176" h="314221">
                  <a:moveTo>
                    <a:pt x="29969" y="0"/>
                  </a:moveTo>
                  <a:lnTo>
                    <a:pt x="1008207" y="0"/>
                  </a:lnTo>
                  <a:cubicBezTo>
                    <a:pt x="1024759" y="0"/>
                    <a:pt x="1038176" y="13418"/>
                    <a:pt x="1038176" y="29969"/>
                  </a:cubicBezTo>
                  <a:lnTo>
                    <a:pt x="1038176" y="284252"/>
                  </a:lnTo>
                  <a:cubicBezTo>
                    <a:pt x="1038176" y="300803"/>
                    <a:pt x="1024759" y="314221"/>
                    <a:pt x="1008207" y="314221"/>
                  </a:cubicBezTo>
                  <a:lnTo>
                    <a:pt x="29969" y="314221"/>
                  </a:lnTo>
                  <a:cubicBezTo>
                    <a:pt x="13418" y="314221"/>
                    <a:pt x="0" y="300803"/>
                    <a:pt x="0" y="284252"/>
                  </a:cubicBezTo>
                  <a:lnTo>
                    <a:pt x="0" y="29969"/>
                  </a:lnTo>
                  <a:cubicBezTo>
                    <a:pt x="0" y="13418"/>
                    <a:pt x="13418" y="0"/>
                    <a:pt x="29969" y="0"/>
                  </a:cubicBezTo>
                  <a:close/>
                </a:path>
              </a:pathLst>
            </a:custGeom>
            <a:solidFill>
              <a:srgbClr val="E1A8F0"/>
            </a:solidFill>
          </p:spPr>
        </p:sp>
        <p:sp>
          <p:nvSpPr>
            <p:cNvPr id="19" name="TextBox 19"/>
            <p:cNvSpPr txBox="1"/>
            <p:nvPr/>
          </p:nvSpPr>
          <p:spPr>
            <a:xfrm>
              <a:off x="0" y="-295275"/>
              <a:ext cx="1038176" cy="609496"/>
            </a:xfrm>
            <a:prstGeom prst="rect">
              <a:avLst/>
            </a:prstGeom>
          </p:spPr>
          <p:txBody>
            <a:bodyPr lIns="50800" tIns="50800" rIns="50800" bIns="50800" rtlCol="0" anchor="ctr"/>
            <a:lstStyle/>
            <a:p>
              <a:pPr algn="ctr">
                <a:lnSpc>
                  <a:spcPts val="6007"/>
                </a:lnSpc>
              </a:pPr>
              <a:endParaRPr/>
            </a:p>
          </p:txBody>
        </p:sp>
      </p:grpSp>
      <p:grpSp>
        <p:nvGrpSpPr>
          <p:cNvPr id="20" name="Group 20"/>
          <p:cNvGrpSpPr/>
          <p:nvPr/>
        </p:nvGrpSpPr>
        <p:grpSpPr>
          <a:xfrm>
            <a:off x="12400158" y="1898698"/>
            <a:ext cx="1197857" cy="1131002"/>
            <a:chOff x="0" y="0"/>
            <a:chExt cx="313829" cy="296314"/>
          </a:xfrm>
        </p:grpSpPr>
        <p:sp>
          <p:nvSpPr>
            <p:cNvPr id="21" name="Freeform 21"/>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22" name="TextBox 22"/>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grpSp>
        <p:nvGrpSpPr>
          <p:cNvPr id="23" name="Group 23"/>
          <p:cNvGrpSpPr/>
          <p:nvPr/>
        </p:nvGrpSpPr>
        <p:grpSpPr>
          <a:xfrm>
            <a:off x="1186569" y="1898698"/>
            <a:ext cx="1197857" cy="1131002"/>
            <a:chOff x="0" y="0"/>
            <a:chExt cx="313829" cy="296314"/>
          </a:xfrm>
        </p:grpSpPr>
        <p:sp>
          <p:nvSpPr>
            <p:cNvPr id="24" name="Freeform 24"/>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25" name="TextBox 25"/>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grpSp>
        <p:nvGrpSpPr>
          <p:cNvPr id="26" name="Group 26"/>
          <p:cNvGrpSpPr/>
          <p:nvPr/>
        </p:nvGrpSpPr>
        <p:grpSpPr>
          <a:xfrm>
            <a:off x="1186569" y="4687050"/>
            <a:ext cx="1197857" cy="1131002"/>
            <a:chOff x="0" y="0"/>
            <a:chExt cx="313829" cy="296314"/>
          </a:xfrm>
        </p:grpSpPr>
        <p:sp>
          <p:nvSpPr>
            <p:cNvPr id="27" name="Freeform 27"/>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28" name="TextBox 28"/>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grpSp>
        <p:nvGrpSpPr>
          <p:cNvPr id="29" name="Group 29"/>
          <p:cNvGrpSpPr/>
          <p:nvPr/>
        </p:nvGrpSpPr>
        <p:grpSpPr>
          <a:xfrm>
            <a:off x="1186569" y="7476958"/>
            <a:ext cx="1197857" cy="1131002"/>
            <a:chOff x="0" y="0"/>
            <a:chExt cx="313829" cy="296314"/>
          </a:xfrm>
        </p:grpSpPr>
        <p:sp>
          <p:nvSpPr>
            <p:cNvPr id="30" name="Freeform 30"/>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31" name="TextBox 31"/>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sp>
        <p:nvSpPr>
          <p:cNvPr id="32" name="Freeform 32"/>
          <p:cNvSpPr/>
          <p:nvPr/>
        </p:nvSpPr>
        <p:spPr>
          <a:xfrm>
            <a:off x="1404559" y="2146981"/>
            <a:ext cx="761877" cy="634436"/>
          </a:xfrm>
          <a:custGeom>
            <a:avLst/>
            <a:gdLst/>
            <a:ahLst/>
            <a:cxnLst/>
            <a:rect l="l" t="t" r="r" b="b"/>
            <a:pathLst>
              <a:path w="761877" h="634436">
                <a:moveTo>
                  <a:pt x="0" y="0"/>
                </a:moveTo>
                <a:lnTo>
                  <a:pt x="761877" y="0"/>
                </a:lnTo>
                <a:lnTo>
                  <a:pt x="761877" y="634436"/>
                </a:lnTo>
                <a:lnTo>
                  <a:pt x="0" y="634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3" name="Group 33"/>
          <p:cNvGrpSpPr/>
          <p:nvPr/>
        </p:nvGrpSpPr>
        <p:grpSpPr>
          <a:xfrm>
            <a:off x="12400158" y="4687050"/>
            <a:ext cx="1197857" cy="1131002"/>
            <a:chOff x="0" y="0"/>
            <a:chExt cx="313829" cy="296314"/>
          </a:xfrm>
        </p:grpSpPr>
        <p:sp>
          <p:nvSpPr>
            <p:cNvPr id="34" name="Freeform 34"/>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35" name="TextBox 35"/>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grpSp>
        <p:nvGrpSpPr>
          <p:cNvPr id="36" name="Group 36"/>
          <p:cNvGrpSpPr/>
          <p:nvPr/>
        </p:nvGrpSpPr>
        <p:grpSpPr>
          <a:xfrm>
            <a:off x="12400158" y="7476958"/>
            <a:ext cx="1197857" cy="1131002"/>
            <a:chOff x="0" y="0"/>
            <a:chExt cx="313829" cy="296314"/>
          </a:xfrm>
        </p:grpSpPr>
        <p:sp>
          <p:nvSpPr>
            <p:cNvPr id="37" name="Freeform 37"/>
            <p:cNvSpPr/>
            <p:nvPr/>
          </p:nvSpPr>
          <p:spPr>
            <a:xfrm>
              <a:off x="0" y="0"/>
              <a:ext cx="313829" cy="296314"/>
            </a:xfrm>
            <a:custGeom>
              <a:avLst/>
              <a:gdLst/>
              <a:ahLst/>
              <a:cxnLst/>
              <a:rect l="l" t="t" r="r" b="b"/>
              <a:pathLst>
                <a:path w="313829" h="296314">
                  <a:moveTo>
                    <a:pt x="0" y="0"/>
                  </a:moveTo>
                  <a:lnTo>
                    <a:pt x="313829" y="0"/>
                  </a:lnTo>
                  <a:lnTo>
                    <a:pt x="313829" y="296314"/>
                  </a:lnTo>
                  <a:lnTo>
                    <a:pt x="0" y="296314"/>
                  </a:lnTo>
                  <a:close/>
                </a:path>
              </a:pathLst>
            </a:custGeom>
            <a:solidFill>
              <a:srgbClr val="561269"/>
            </a:solidFill>
          </p:spPr>
        </p:sp>
        <p:sp>
          <p:nvSpPr>
            <p:cNvPr id="38" name="TextBox 38"/>
            <p:cNvSpPr txBox="1"/>
            <p:nvPr/>
          </p:nvSpPr>
          <p:spPr>
            <a:xfrm>
              <a:off x="0" y="-66675"/>
              <a:ext cx="313829" cy="362989"/>
            </a:xfrm>
            <a:prstGeom prst="rect">
              <a:avLst/>
            </a:prstGeom>
          </p:spPr>
          <p:txBody>
            <a:bodyPr lIns="51068" tIns="51068" rIns="51068" bIns="51068" rtlCol="0" anchor="ctr"/>
            <a:lstStyle/>
            <a:p>
              <a:pPr algn="ctr">
                <a:lnSpc>
                  <a:spcPts val="2338"/>
                </a:lnSpc>
              </a:pPr>
              <a:endParaRPr/>
            </a:p>
          </p:txBody>
        </p:sp>
      </p:grpSp>
      <p:sp>
        <p:nvSpPr>
          <p:cNvPr id="39" name="Freeform 39"/>
          <p:cNvSpPr/>
          <p:nvPr/>
        </p:nvSpPr>
        <p:spPr>
          <a:xfrm>
            <a:off x="1404559" y="4872390"/>
            <a:ext cx="761877" cy="761877"/>
          </a:xfrm>
          <a:custGeom>
            <a:avLst/>
            <a:gdLst/>
            <a:ahLst/>
            <a:cxnLst/>
            <a:rect l="l" t="t" r="r" b="b"/>
            <a:pathLst>
              <a:path w="761877" h="761877">
                <a:moveTo>
                  <a:pt x="0" y="0"/>
                </a:moveTo>
                <a:lnTo>
                  <a:pt x="761877" y="0"/>
                </a:lnTo>
                <a:lnTo>
                  <a:pt x="761877" y="761878"/>
                </a:lnTo>
                <a:lnTo>
                  <a:pt x="0" y="76187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0" name="Freeform 40"/>
          <p:cNvSpPr/>
          <p:nvPr/>
        </p:nvSpPr>
        <p:spPr>
          <a:xfrm>
            <a:off x="1429333" y="7647992"/>
            <a:ext cx="712329" cy="788934"/>
          </a:xfrm>
          <a:custGeom>
            <a:avLst/>
            <a:gdLst/>
            <a:ahLst/>
            <a:cxnLst/>
            <a:rect l="l" t="t" r="r" b="b"/>
            <a:pathLst>
              <a:path w="712329" h="788934">
                <a:moveTo>
                  <a:pt x="0" y="0"/>
                </a:moveTo>
                <a:lnTo>
                  <a:pt x="712329" y="0"/>
                </a:lnTo>
                <a:lnTo>
                  <a:pt x="712329" y="788934"/>
                </a:lnTo>
                <a:lnTo>
                  <a:pt x="0" y="7889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1" name="Freeform 41"/>
          <p:cNvSpPr/>
          <p:nvPr/>
        </p:nvSpPr>
        <p:spPr>
          <a:xfrm>
            <a:off x="12630534" y="2083893"/>
            <a:ext cx="737103" cy="760613"/>
          </a:xfrm>
          <a:custGeom>
            <a:avLst/>
            <a:gdLst/>
            <a:ahLst/>
            <a:cxnLst/>
            <a:rect l="l" t="t" r="r" b="b"/>
            <a:pathLst>
              <a:path w="737103" h="760613">
                <a:moveTo>
                  <a:pt x="0" y="0"/>
                </a:moveTo>
                <a:lnTo>
                  <a:pt x="737103" y="0"/>
                </a:lnTo>
                <a:lnTo>
                  <a:pt x="737103" y="760613"/>
                </a:lnTo>
                <a:lnTo>
                  <a:pt x="0" y="76061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2" name="Freeform 42"/>
          <p:cNvSpPr/>
          <p:nvPr/>
        </p:nvSpPr>
        <p:spPr>
          <a:xfrm>
            <a:off x="12630534" y="4950338"/>
            <a:ext cx="737103" cy="604425"/>
          </a:xfrm>
          <a:custGeom>
            <a:avLst/>
            <a:gdLst/>
            <a:ahLst/>
            <a:cxnLst/>
            <a:rect l="l" t="t" r="r" b="b"/>
            <a:pathLst>
              <a:path w="737103" h="604425">
                <a:moveTo>
                  <a:pt x="0" y="0"/>
                </a:moveTo>
                <a:lnTo>
                  <a:pt x="737103" y="0"/>
                </a:lnTo>
                <a:lnTo>
                  <a:pt x="737103" y="604425"/>
                </a:lnTo>
                <a:lnTo>
                  <a:pt x="0" y="60442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3" name="Freeform 43"/>
          <p:cNvSpPr/>
          <p:nvPr/>
        </p:nvSpPr>
        <p:spPr>
          <a:xfrm>
            <a:off x="12630534" y="7647992"/>
            <a:ext cx="737103" cy="737103"/>
          </a:xfrm>
          <a:custGeom>
            <a:avLst/>
            <a:gdLst/>
            <a:ahLst/>
            <a:cxnLst/>
            <a:rect l="l" t="t" r="r" b="b"/>
            <a:pathLst>
              <a:path w="737103" h="737103">
                <a:moveTo>
                  <a:pt x="0" y="0"/>
                </a:moveTo>
                <a:lnTo>
                  <a:pt x="737103" y="0"/>
                </a:lnTo>
                <a:lnTo>
                  <a:pt x="737103" y="737103"/>
                </a:lnTo>
                <a:lnTo>
                  <a:pt x="0" y="73710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44" name="Group 44"/>
          <p:cNvGrpSpPr/>
          <p:nvPr/>
        </p:nvGrpSpPr>
        <p:grpSpPr>
          <a:xfrm>
            <a:off x="6321369" y="3764055"/>
            <a:ext cx="5645262" cy="3740425"/>
            <a:chOff x="0" y="0"/>
            <a:chExt cx="1486818" cy="985133"/>
          </a:xfrm>
        </p:grpSpPr>
        <p:sp>
          <p:nvSpPr>
            <p:cNvPr id="45" name="Freeform 45"/>
            <p:cNvSpPr/>
            <p:nvPr/>
          </p:nvSpPr>
          <p:spPr>
            <a:xfrm>
              <a:off x="0" y="0"/>
              <a:ext cx="1486818" cy="985133"/>
            </a:xfrm>
            <a:custGeom>
              <a:avLst/>
              <a:gdLst/>
              <a:ahLst/>
              <a:cxnLst/>
              <a:rect l="l" t="t" r="r" b="b"/>
              <a:pathLst>
                <a:path w="1486818" h="985133">
                  <a:moveTo>
                    <a:pt x="69941" y="0"/>
                  </a:moveTo>
                  <a:lnTo>
                    <a:pt x="1416876" y="0"/>
                  </a:lnTo>
                  <a:cubicBezTo>
                    <a:pt x="1455504" y="0"/>
                    <a:pt x="1486818" y="31314"/>
                    <a:pt x="1486818" y="69941"/>
                  </a:cubicBezTo>
                  <a:lnTo>
                    <a:pt x="1486818" y="915191"/>
                  </a:lnTo>
                  <a:cubicBezTo>
                    <a:pt x="1486818" y="953819"/>
                    <a:pt x="1455504" y="985133"/>
                    <a:pt x="1416876" y="985133"/>
                  </a:cubicBezTo>
                  <a:lnTo>
                    <a:pt x="69941" y="985133"/>
                  </a:lnTo>
                  <a:cubicBezTo>
                    <a:pt x="31314" y="985133"/>
                    <a:pt x="0" y="953819"/>
                    <a:pt x="0" y="915191"/>
                  </a:cubicBezTo>
                  <a:lnTo>
                    <a:pt x="0" y="69941"/>
                  </a:lnTo>
                  <a:cubicBezTo>
                    <a:pt x="0" y="31314"/>
                    <a:pt x="31314" y="0"/>
                    <a:pt x="69941" y="0"/>
                  </a:cubicBezTo>
                  <a:close/>
                </a:path>
              </a:pathLst>
            </a:custGeom>
            <a:solidFill>
              <a:srgbClr val="E1A8F0"/>
            </a:solidFill>
          </p:spPr>
        </p:sp>
        <p:sp>
          <p:nvSpPr>
            <p:cNvPr id="46" name="TextBox 46"/>
            <p:cNvSpPr txBox="1"/>
            <p:nvPr/>
          </p:nvSpPr>
          <p:spPr>
            <a:xfrm>
              <a:off x="0" y="-47625"/>
              <a:ext cx="1486818" cy="1032758"/>
            </a:xfrm>
            <a:prstGeom prst="rect">
              <a:avLst/>
            </a:prstGeom>
          </p:spPr>
          <p:txBody>
            <a:bodyPr lIns="50800" tIns="50800" rIns="50800" bIns="50800" rtlCol="0" anchor="ctr"/>
            <a:lstStyle/>
            <a:p>
              <a:pPr algn="ctr">
                <a:lnSpc>
                  <a:spcPts val="3448"/>
                </a:lnSpc>
              </a:pPr>
              <a:endParaRPr/>
            </a:p>
          </p:txBody>
        </p:sp>
      </p:grpSp>
      <p:sp>
        <p:nvSpPr>
          <p:cNvPr id="47" name="TextBox 47"/>
          <p:cNvSpPr txBox="1"/>
          <p:nvPr/>
        </p:nvSpPr>
        <p:spPr>
          <a:xfrm>
            <a:off x="4180583" y="627387"/>
            <a:ext cx="9926819" cy="1088375"/>
          </a:xfrm>
          <a:prstGeom prst="rect">
            <a:avLst/>
          </a:prstGeom>
        </p:spPr>
        <p:txBody>
          <a:bodyPr lIns="0" tIns="0" rIns="0" bIns="0" rtlCol="0" anchor="t">
            <a:spAutoFit/>
          </a:bodyPr>
          <a:lstStyle/>
          <a:p>
            <a:pPr algn="ctr">
              <a:lnSpc>
                <a:spcPts val="4884"/>
              </a:lnSpc>
            </a:pPr>
            <a:r>
              <a:rPr lang="en-US" sz="6522" b="1">
                <a:solidFill>
                  <a:srgbClr val="2B0934"/>
                </a:solidFill>
                <a:latin typeface="Montserrat Bold"/>
                <a:ea typeface="Montserrat Bold"/>
                <a:cs typeface="Montserrat Bold"/>
                <a:sym typeface="Montserrat Bold"/>
              </a:rPr>
              <a:t>PROPOSED SOLUTION </a:t>
            </a:r>
          </a:p>
          <a:p>
            <a:pPr algn="ctr">
              <a:lnSpc>
                <a:spcPts val="6007"/>
              </a:lnSpc>
            </a:pPr>
            <a:endParaRPr lang="en-US" sz="6522" b="1">
              <a:solidFill>
                <a:srgbClr val="2B0934"/>
              </a:solidFill>
              <a:latin typeface="Montserrat Bold"/>
              <a:ea typeface="Montserrat Bold"/>
              <a:cs typeface="Montserrat Bold"/>
              <a:sym typeface="Montserrat Bold"/>
            </a:endParaRPr>
          </a:p>
        </p:txBody>
      </p:sp>
      <p:sp>
        <p:nvSpPr>
          <p:cNvPr id="48" name="TextBox 48"/>
          <p:cNvSpPr txBox="1"/>
          <p:nvPr/>
        </p:nvSpPr>
        <p:spPr>
          <a:xfrm>
            <a:off x="6512934" y="3856268"/>
            <a:ext cx="5453697" cy="3498849"/>
          </a:xfrm>
          <a:prstGeom prst="rect">
            <a:avLst/>
          </a:prstGeom>
        </p:spPr>
        <p:txBody>
          <a:bodyPr lIns="0" tIns="0" rIns="0" bIns="0" rtlCol="0" anchor="t">
            <a:spAutoFit/>
          </a:bodyPr>
          <a:lstStyle/>
          <a:p>
            <a:pPr algn="l">
              <a:lnSpc>
                <a:spcPts val="3500"/>
              </a:lnSpc>
              <a:spcBef>
                <a:spcPct val="0"/>
              </a:spcBef>
            </a:pPr>
            <a:r>
              <a:rPr lang="en-US" sz="2500" b="1">
                <a:solidFill>
                  <a:srgbClr val="2B0934"/>
                </a:solidFill>
                <a:latin typeface="Canva Sans Bold"/>
                <a:ea typeface="Canva Sans Bold"/>
                <a:cs typeface="Canva Sans Bold"/>
                <a:sym typeface="Canva Sans Bold"/>
              </a:rPr>
              <a:t>We propose a Secure IoT-Based Patient Monitoring System that continuously monitors patient vital signs and securely transmits the data to a cloud-based dashboard, and provides intelligent alerts for abnormal health conditions.</a:t>
            </a:r>
          </a:p>
        </p:txBody>
      </p:sp>
      <p:sp>
        <p:nvSpPr>
          <p:cNvPr id="49" name="TextBox 49"/>
          <p:cNvSpPr txBox="1"/>
          <p:nvPr/>
        </p:nvSpPr>
        <p:spPr>
          <a:xfrm>
            <a:off x="1429333" y="3016060"/>
            <a:ext cx="4097164" cy="842315"/>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Real-time Health Monitoring</a:t>
            </a:r>
          </a:p>
        </p:txBody>
      </p:sp>
      <p:sp>
        <p:nvSpPr>
          <p:cNvPr id="50" name="TextBox 50"/>
          <p:cNvSpPr txBox="1"/>
          <p:nvPr/>
        </p:nvSpPr>
        <p:spPr>
          <a:xfrm>
            <a:off x="1502887" y="5806061"/>
            <a:ext cx="4097164" cy="842315"/>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Authorized and secure access control</a:t>
            </a:r>
          </a:p>
        </p:txBody>
      </p:sp>
      <p:sp>
        <p:nvSpPr>
          <p:cNvPr id="51" name="TextBox 51"/>
          <p:cNvSpPr txBox="1"/>
          <p:nvPr/>
        </p:nvSpPr>
        <p:spPr>
          <a:xfrm>
            <a:off x="1502887" y="8617485"/>
            <a:ext cx="4097164" cy="842315"/>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Automated data acquisition </a:t>
            </a:r>
          </a:p>
        </p:txBody>
      </p:sp>
      <p:sp>
        <p:nvSpPr>
          <p:cNvPr id="52" name="TextBox 52"/>
          <p:cNvSpPr txBox="1"/>
          <p:nvPr/>
        </p:nvSpPr>
        <p:spPr>
          <a:xfrm>
            <a:off x="12763577" y="3016060"/>
            <a:ext cx="4097164" cy="842315"/>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AI based anomaly detection</a:t>
            </a:r>
          </a:p>
        </p:txBody>
      </p:sp>
      <p:sp>
        <p:nvSpPr>
          <p:cNvPr id="53" name="TextBox 53"/>
          <p:cNvSpPr txBox="1"/>
          <p:nvPr/>
        </p:nvSpPr>
        <p:spPr>
          <a:xfrm>
            <a:off x="12999086" y="5808527"/>
            <a:ext cx="3626145" cy="842315"/>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Emergency Alert System</a:t>
            </a:r>
          </a:p>
        </p:txBody>
      </p:sp>
      <p:sp>
        <p:nvSpPr>
          <p:cNvPr id="54" name="TextBox 54"/>
          <p:cNvSpPr txBox="1"/>
          <p:nvPr/>
        </p:nvSpPr>
        <p:spPr>
          <a:xfrm>
            <a:off x="12923459" y="8732190"/>
            <a:ext cx="3626145"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Secure Data Transfer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2468026" y="2503036"/>
            <a:ext cx="2755615" cy="515829"/>
            <a:chOff x="0" y="0"/>
            <a:chExt cx="559720" cy="104775"/>
          </a:xfrm>
        </p:grpSpPr>
        <p:sp>
          <p:nvSpPr>
            <p:cNvPr id="3" name="Freeform 3"/>
            <p:cNvSpPr/>
            <p:nvPr/>
          </p:nvSpPr>
          <p:spPr>
            <a:xfrm>
              <a:off x="0" y="0"/>
              <a:ext cx="559720" cy="104775"/>
            </a:xfrm>
            <a:custGeom>
              <a:avLst/>
              <a:gdLst/>
              <a:ahLst/>
              <a:cxnLst/>
              <a:rect l="l" t="t" r="r" b="b"/>
              <a:pathLst>
                <a:path w="559720" h="104775">
                  <a:moveTo>
                    <a:pt x="52388" y="0"/>
                  </a:moveTo>
                  <a:lnTo>
                    <a:pt x="507332" y="0"/>
                  </a:lnTo>
                  <a:cubicBezTo>
                    <a:pt x="521226" y="0"/>
                    <a:pt x="534551" y="5519"/>
                    <a:pt x="544376" y="15344"/>
                  </a:cubicBezTo>
                  <a:cubicBezTo>
                    <a:pt x="554200" y="25169"/>
                    <a:pt x="559720" y="38493"/>
                    <a:pt x="559720" y="52388"/>
                  </a:cubicBezTo>
                  <a:lnTo>
                    <a:pt x="559720" y="52388"/>
                  </a:lnTo>
                  <a:cubicBezTo>
                    <a:pt x="559720" y="81320"/>
                    <a:pt x="536265" y="104775"/>
                    <a:pt x="507332"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4" name="TextBox 4"/>
            <p:cNvSpPr txBox="1"/>
            <p:nvPr/>
          </p:nvSpPr>
          <p:spPr>
            <a:xfrm>
              <a:off x="0" y="-47625"/>
              <a:ext cx="559720" cy="152400"/>
            </a:xfrm>
            <a:prstGeom prst="rect">
              <a:avLst/>
            </a:prstGeom>
          </p:spPr>
          <p:txBody>
            <a:bodyPr lIns="50800" tIns="50800" rIns="50800" bIns="50800" rtlCol="0" anchor="ctr"/>
            <a:lstStyle/>
            <a:p>
              <a:pPr algn="ctr">
                <a:lnSpc>
                  <a:spcPts val="3448"/>
                </a:lnSpc>
              </a:pPr>
              <a:endParaRPr/>
            </a:p>
          </p:txBody>
        </p:sp>
      </p:grpSp>
      <p:grpSp>
        <p:nvGrpSpPr>
          <p:cNvPr id="5" name="Group 5"/>
          <p:cNvGrpSpPr/>
          <p:nvPr/>
        </p:nvGrpSpPr>
        <p:grpSpPr>
          <a:xfrm>
            <a:off x="693597" y="1715763"/>
            <a:ext cx="2090377" cy="20903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8" name="Group 8"/>
          <p:cNvGrpSpPr/>
          <p:nvPr/>
        </p:nvGrpSpPr>
        <p:grpSpPr>
          <a:xfrm rot="5400000">
            <a:off x="195736" y="3345847"/>
            <a:ext cx="3086100" cy="509207"/>
            <a:chOff x="0" y="0"/>
            <a:chExt cx="635000" cy="104775"/>
          </a:xfrm>
        </p:grpSpPr>
        <p:sp>
          <p:nvSpPr>
            <p:cNvPr id="9" name="Freeform 9"/>
            <p:cNvSpPr/>
            <p:nvPr/>
          </p:nvSpPr>
          <p:spPr>
            <a:xfrm>
              <a:off x="0" y="0"/>
              <a:ext cx="635000" cy="104775"/>
            </a:xfrm>
            <a:custGeom>
              <a:avLst/>
              <a:gdLst/>
              <a:ahLst/>
              <a:cxnLst/>
              <a:rect l="l" t="t" r="r" b="b"/>
              <a:pathLst>
                <a:path w="635000" h="104775">
                  <a:moveTo>
                    <a:pt x="48997" y="0"/>
                  </a:moveTo>
                  <a:lnTo>
                    <a:pt x="586003" y="0"/>
                  </a:lnTo>
                  <a:cubicBezTo>
                    <a:pt x="598998" y="0"/>
                    <a:pt x="611460" y="5162"/>
                    <a:pt x="620649" y="14351"/>
                  </a:cubicBezTo>
                  <a:cubicBezTo>
                    <a:pt x="629838" y="23540"/>
                    <a:pt x="635000" y="36002"/>
                    <a:pt x="635000" y="48997"/>
                  </a:cubicBezTo>
                  <a:lnTo>
                    <a:pt x="635000" y="55778"/>
                  </a:lnTo>
                  <a:cubicBezTo>
                    <a:pt x="635000" y="68773"/>
                    <a:pt x="629838" y="81235"/>
                    <a:pt x="620649" y="90424"/>
                  </a:cubicBezTo>
                  <a:cubicBezTo>
                    <a:pt x="611460" y="99613"/>
                    <a:pt x="598998" y="104775"/>
                    <a:pt x="586003" y="104775"/>
                  </a:cubicBezTo>
                  <a:lnTo>
                    <a:pt x="48997" y="104775"/>
                  </a:lnTo>
                  <a:cubicBezTo>
                    <a:pt x="36002" y="104775"/>
                    <a:pt x="23540" y="99613"/>
                    <a:pt x="14351" y="90424"/>
                  </a:cubicBezTo>
                  <a:cubicBezTo>
                    <a:pt x="5162" y="81235"/>
                    <a:pt x="0" y="68773"/>
                    <a:pt x="0" y="55778"/>
                  </a:cubicBezTo>
                  <a:lnTo>
                    <a:pt x="0" y="48997"/>
                  </a:lnTo>
                  <a:cubicBezTo>
                    <a:pt x="0" y="36002"/>
                    <a:pt x="5162" y="23540"/>
                    <a:pt x="14351" y="14351"/>
                  </a:cubicBezTo>
                  <a:cubicBezTo>
                    <a:pt x="23540" y="5162"/>
                    <a:pt x="36002" y="0"/>
                    <a:pt x="48997" y="0"/>
                  </a:cubicBezTo>
                  <a:close/>
                </a:path>
              </a:pathLst>
            </a:custGeom>
            <a:solidFill>
              <a:srgbClr val="561269"/>
            </a:solidFill>
          </p:spPr>
        </p:sp>
        <p:sp>
          <p:nvSpPr>
            <p:cNvPr id="10" name="TextBox 10"/>
            <p:cNvSpPr txBox="1"/>
            <p:nvPr/>
          </p:nvSpPr>
          <p:spPr>
            <a:xfrm>
              <a:off x="0" y="-47625"/>
              <a:ext cx="635000" cy="152400"/>
            </a:xfrm>
            <a:prstGeom prst="rect">
              <a:avLst/>
            </a:prstGeom>
          </p:spPr>
          <p:txBody>
            <a:bodyPr lIns="50800" tIns="50800" rIns="50800" bIns="50800" rtlCol="0" anchor="ctr"/>
            <a:lstStyle/>
            <a:p>
              <a:pPr algn="ctr">
                <a:lnSpc>
                  <a:spcPts val="3448"/>
                </a:lnSpc>
              </a:pPr>
              <a:endParaRPr/>
            </a:p>
          </p:txBody>
        </p:sp>
      </p:grpSp>
      <p:sp>
        <p:nvSpPr>
          <p:cNvPr id="11" name="Freeform 11"/>
          <p:cNvSpPr/>
          <p:nvPr/>
        </p:nvSpPr>
        <p:spPr>
          <a:xfrm>
            <a:off x="1172355" y="2088085"/>
            <a:ext cx="1132862" cy="1345732"/>
          </a:xfrm>
          <a:custGeom>
            <a:avLst/>
            <a:gdLst/>
            <a:ahLst/>
            <a:cxnLst/>
            <a:rect l="l" t="t" r="r" b="b"/>
            <a:pathLst>
              <a:path w="1132862" h="1345732">
                <a:moveTo>
                  <a:pt x="0" y="0"/>
                </a:moveTo>
                <a:lnTo>
                  <a:pt x="1132862" y="0"/>
                </a:lnTo>
                <a:lnTo>
                  <a:pt x="1132862" y="1345732"/>
                </a:lnTo>
                <a:lnTo>
                  <a:pt x="0" y="13457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rot="5400000">
            <a:off x="195736" y="7611373"/>
            <a:ext cx="3086100" cy="509207"/>
            <a:chOff x="0" y="0"/>
            <a:chExt cx="635000" cy="104775"/>
          </a:xfrm>
        </p:grpSpPr>
        <p:sp>
          <p:nvSpPr>
            <p:cNvPr id="13" name="Freeform 13"/>
            <p:cNvSpPr/>
            <p:nvPr/>
          </p:nvSpPr>
          <p:spPr>
            <a:xfrm>
              <a:off x="0" y="0"/>
              <a:ext cx="635000" cy="104775"/>
            </a:xfrm>
            <a:custGeom>
              <a:avLst/>
              <a:gdLst/>
              <a:ahLst/>
              <a:cxnLst/>
              <a:rect l="l" t="t" r="r" b="b"/>
              <a:pathLst>
                <a:path w="635000" h="104775">
                  <a:moveTo>
                    <a:pt x="48997" y="0"/>
                  </a:moveTo>
                  <a:lnTo>
                    <a:pt x="586003" y="0"/>
                  </a:lnTo>
                  <a:cubicBezTo>
                    <a:pt x="598998" y="0"/>
                    <a:pt x="611460" y="5162"/>
                    <a:pt x="620649" y="14351"/>
                  </a:cubicBezTo>
                  <a:cubicBezTo>
                    <a:pt x="629838" y="23540"/>
                    <a:pt x="635000" y="36002"/>
                    <a:pt x="635000" y="48997"/>
                  </a:cubicBezTo>
                  <a:lnTo>
                    <a:pt x="635000" y="55778"/>
                  </a:lnTo>
                  <a:cubicBezTo>
                    <a:pt x="635000" y="68773"/>
                    <a:pt x="629838" y="81235"/>
                    <a:pt x="620649" y="90424"/>
                  </a:cubicBezTo>
                  <a:cubicBezTo>
                    <a:pt x="611460" y="99613"/>
                    <a:pt x="598998" y="104775"/>
                    <a:pt x="586003" y="104775"/>
                  </a:cubicBezTo>
                  <a:lnTo>
                    <a:pt x="48997" y="104775"/>
                  </a:lnTo>
                  <a:cubicBezTo>
                    <a:pt x="36002" y="104775"/>
                    <a:pt x="23540" y="99613"/>
                    <a:pt x="14351" y="90424"/>
                  </a:cubicBezTo>
                  <a:cubicBezTo>
                    <a:pt x="5162" y="81235"/>
                    <a:pt x="0" y="68773"/>
                    <a:pt x="0" y="55778"/>
                  </a:cubicBezTo>
                  <a:lnTo>
                    <a:pt x="0" y="48997"/>
                  </a:lnTo>
                  <a:cubicBezTo>
                    <a:pt x="0" y="36002"/>
                    <a:pt x="5162" y="23540"/>
                    <a:pt x="14351" y="14351"/>
                  </a:cubicBezTo>
                  <a:cubicBezTo>
                    <a:pt x="23540" y="5162"/>
                    <a:pt x="36002" y="0"/>
                    <a:pt x="48997" y="0"/>
                  </a:cubicBezTo>
                  <a:close/>
                </a:path>
              </a:pathLst>
            </a:custGeom>
            <a:solidFill>
              <a:srgbClr val="561269"/>
            </a:solidFill>
          </p:spPr>
        </p:sp>
        <p:sp>
          <p:nvSpPr>
            <p:cNvPr id="14" name="TextBox 14"/>
            <p:cNvSpPr txBox="1"/>
            <p:nvPr/>
          </p:nvSpPr>
          <p:spPr>
            <a:xfrm>
              <a:off x="0" y="-47625"/>
              <a:ext cx="635000" cy="152400"/>
            </a:xfrm>
            <a:prstGeom prst="rect">
              <a:avLst/>
            </a:prstGeom>
          </p:spPr>
          <p:txBody>
            <a:bodyPr lIns="50800" tIns="50800" rIns="50800" bIns="50800" rtlCol="0" anchor="ctr"/>
            <a:lstStyle/>
            <a:p>
              <a:pPr algn="ctr">
                <a:lnSpc>
                  <a:spcPts val="3448"/>
                </a:lnSpc>
              </a:pPr>
              <a:endParaRPr/>
            </a:p>
          </p:txBody>
        </p:sp>
      </p:grpSp>
      <p:grpSp>
        <p:nvGrpSpPr>
          <p:cNvPr id="15" name="Group 15"/>
          <p:cNvGrpSpPr/>
          <p:nvPr/>
        </p:nvGrpSpPr>
        <p:grpSpPr>
          <a:xfrm>
            <a:off x="693597" y="4788477"/>
            <a:ext cx="2090377" cy="209037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18" name="Group 18"/>
          <p:cNvGrpSpPr/>
          <p:nvPr/>
        </p:nvGrpSpPr>
        <p:grpSpPr>
          <a:xfrm rot="-10800000">
            <a:off x="2564932" y="8768144"/>
            <a:ext cx="5836848" cy="509207"/>
            <a:chOff x="0" y="0"/>
            <a:chExt cx="1200998" cy="104775"/>
          </a:xfrm>
        </p:grpSpPr>
        <p:sp>
          <p:nvSpPr>
            <p:cNvPr id="19" name="Freeform 19"/>
            <p:cNvSpPr/>
            <p:nvPr/>
          </p:nvSpPr>
          <p:spPr>
            <a:xfrm>
              <a:off x="0" y="0"/>
              <a:ext cx="1200998" cy="104775"/>
            </a:xfrm>
            <a:custGeom>
              <a:avLst/>
              <a:gdLst/>
              <a:ahLst/>
              <a:cxnLst/>
              <a:rect l="l" t="t" r="r" b="b"/>
              <a:pathLst>
                <a:path w="1200998" h="104775">
                  <a:moveTo>
                    <a:pt x="25906" y="0"/>
                  </a:moveTo>
                  <a:lnTo>
                    <a:pt x="1175092" y="0"/>
                  </a:lnTo>
                  <a:cubicBezTo>
                    <a:pt x="1189399" y="0"/>
                    <a:pt x="1200998" y="11599"/>
                    <a:pt x="1200998" y="25906"/>
                  </a:cubicBezTo>
                  <a:lnTo>
                    <a:pt x="1200998" y="78869"/>
                  </a:lnTo>
                  <a:cubicBezTo>
                    <a:pt x="1200998" y="93176"/>
                    <a:pt x="1189399" y="104775"/>
                    <a:pt x="1175092" y="104775"/>
                  </a:cubicBezTo>
                  <a:lnTo>
                    <a:pt x="25906" y="104775"/>
                  </a:lnTo>
                  <a:cubicBezTo>
                    <a:pt x="11599" y="104775"/>
                    <a:pt x="0" y="93176"/>
                    <a:pt x="0" y="78869"/>
                  </a:cubicBezTo>
                  <a:lnTo>
                    <a:pt x="0" y="25906"/>
                  </a:lnTo>
                  <a:cubicBezTo>
                    <a:pt x="0" y="11599"/>
                    <a:pt x="11599" y="0"/>
                    <a:pt x="25906" y="0"/>
                  </a:cubicBezTo>
                  <a:close/>
                </a:path>
              </a:pathLst>
            </a:custGeom>
            <a:solidFill>
              <a:srgbClr val="561269"/>
            </a:solidFill>
          </p:spPr>
        </p:sp>
        <p:sp>
          <p:nvSpPr>
            <p:cNvPr id="20" name="TextBox 20"/>
            <p:cNvSpPr txBox="1"/>
            <p:nvPr/>
          </p:nvSpPr>
          <p:spPr>
            <a:xfrm>
              <a:off x="0" y="-47625"/>
              <a:ext cx="1200998" cy="152400"/>
            </a:xfrm>
            <a:prstGeom prst="rect">
              <a:avLst/>
            </a:prstGeom>
          </p:spPr>
          <p:txBody>
            <a:bodyPr lIns="50800" tIns="50800" rIns="50800" bIns="50800" rtlCol="0" anchor="ctr"/>
            <a:lstStyle/>
            <a:p>
              <a:pPr algn="ctr">
                <a:lnSpc>
                  <a:spcPts val="3448"/>
                </a:lnSpc>
              </a:pPr>
              <a:endParaRPr/>
            </a:p>
          </p:txBody>
        </p:sp>
      </p:grpSp>
      <p:grpSp>
        <p:nvGrpSpPr>
          <p:cNvPr id="21" name="Group 21"/>
          <p:cNvGrpSpPr/>
          <p:nvPr/>
        </p:nvGrpSpPr>
        <p:grpSpPr>
          <a:xfrm>
            <a:off x="693597" y="7865976"/>
            <a:ext cx="2090377" cy="209037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sp>
        <p:nvSpPr>
          <p:cNvPr id="24" name="AutoShape 24"/>
          <p:cNvSpPr/>
          <p:nvPr/>
        </p:nvSpPr>
        <p:spPr>
          <a:xfrm>
            <a:off x="5616668" y="9003697"/>
            <a:ext cx="2785113" cy="19050"/>
          </a:xfrm>
          <a:prstGeom prst="line">
            <a:avLst/>
          </a:prstGeom>
          <a:ln w="38100" cap="flat">
            <a:solidFill>
              <a:srgbClr val="EDCBF6"/>
            </a:solidFill>
            <a:prstDash val="solid"/>
            <a:headEnd type="none" w="sm" len="sm"/>
            <a:tailEnd type="none" w="sm" len="sm"/>
          </a:ln>
        </p:spPr>
      </p:sp>
      <p:grpSp>
        <p:nvGrpSpPr>
          <p:cNvPr id="25" name="Group 25"/>
          <p:cNvGrpSpPr/>
          <p:nvPr/>
        </p:nvGrpSpPr>
        <p:grpSpPr>
          <a:xfrm>
            <a:off x="7346053" y="7865976"/>
            <a:ext cx="2090377" cy="209037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28" name="Group 28"/>
          <p:cNvGrpSpPr/>
          <p:nvPr/>
        </p:nvGrpSpPr>
        <p:grpSpPr>
          <a:xfrm rot="-9295672">
            <a:off x="8454593" y="6775350"/>
            <a:ext cx="6494495" cy="515829"/>
            <a:chOff x="0" y="0"/>
            <a:chExt cx="1319160" cy="104775"/>
          </a:xfrm>
        </p:grpSpPr>
        <p:sp>
          <p:nvSpPr>
            <p:cNvPr id="29" name="Freeform 29"/>
            <p:cNvSpPr/>
            <p:nvPr/>
          </p:nvSpPr>
          <p:spPr>
            <a:xfrm>
              <a:off x="0" y="0"/>
              <a:ext cx="1319160" cy="104775"/>
            </a:xfrm>
            <a:custGeom>
              <a:avLst/>
              <a:gdLst/>
              <a:ahLst/>
              <a:cxnLst/>
              <a:rect l="l" t="t" r="r" b="b"/>
              <a:pathLst>
                <a:path w="1319160" h="104775">
                  <a:moveTo>
                    <a:pt x="23283" y="0"/>
                  </a:moveTo>
                  <a:lnTo>
                    <a:pt x="1295877" y="0"/>
                  </a:lnTo>
                  <a:cubicBezTo>
                    <a:pt x="1308736" y="0"/>
                    <a:pt x="1319160" y="10424"/>
                    <a:pt x="1319160" y="23283"/>
                  </a:cubicBezTo>
                  <a:lnTo>
                    <a:pt x="1319160" y="81492"/>
                  </a:lnTo>
                  <a:cubicBezTo>
                    <a:pt x="1319160" y="94351"/>
                    <a:pt x="1308736" y="104775"/>
                    <a:pt x="1295877" y="104775"/>
                  </a:cubicBezTo>
                  <a:lnTo>
                    <a:pt x="23283" y="104775"/>
                  </a:lnTo>
                  <a:cubicBezTo>
                    <a:pt x="10424" y="104775"/>
                    <a:pt x="0" y="94351"/>
                    <a:pt x="0" y="81492"/>
                  </a:cubicBezTo>
                  <a:lnTo>
                    <a:pt x="0" y="23283"/>
                  </a:lnTo>
                  <a:cubicBezTo>
                    <a:pt x="0" y="10424"/>
                    <a:pt x="10424" y="0"/>
                    <a:pt x="23283" y="0"/>
                  </a:cubicBezTo>
                  <a:close/>
                </a:path>
              </a:pathLst>
            </a:custGeom>
            <a:solidFill>
              <a:srgbClr val="561269"/>
            </a:solidFill>
          </p:spPr>
        </p:sp>
        <p:sp>
          <p:nvSpPr>
            <p:cNvPr id="30" name="TextBox 30"/>
            <p:cNvSpPr txBox="1"/>
            <p:nvPr/>
          </p:nvSpPr>
          <p:spPr>
            <a:xfrm>
              <a:off x="0" y="-47625"/>
              <a:ext cx="1319160" cy="152400"/>
            </a:xfrm>
            <a:prstGeom prst="rect">
              <a:avLst/>
            </a:prstGeom>
          </p:spPr>
          <p:txBody>
            <a:bodyPr lIns="50800" tIns="50800" rIns="50800" bIns="50800" rtlCol="0" anchor="ctr"/>
            <a:lstStyle/>
            <a:p>
              <a:pPr algn="ctr">
                <a:lnSpc>
                  <a:spcPts val="3448"/>
                </a:lnSpc>
              </a:pPr>
              <a:endParaRPr/>
            </a:p>
          </p:txBody>
        </p:sp>
      </p:grpSp>
      <p:grpSp>
        <p:nvGrpSpPr>
          <p:cNvPr id="31" name="Group 31"/>
          <p:cNvGrpSpPr/>
          <p:nvPr/>
        </p:nvGrpSpPr>
        <p:grpSpPr>
          <a:xfrm rot="5400000">
            <a:off x="7197069" y="6778661"/>
            <a:ext cx="2399198" cy="509207"/>
            <a:chOff x="0" y="0"/>
            <a:chExt cx="493662" cy="104775"/>
          </a:xfrm>
        </p:grpSpPr>
        <p:sp>
          <p:nvSpPr>
            <p:cNvPr id="32" name="Freeform 32"/>
            <p:cNvSpPr/>
            <p:nvPr/>
          </p:nvSpPr>
          <p:spPr>
            <a:xfrm>
              <a:off x="0" y="0"/>
              <a:ext cx="493662" cy="104775"/>
            </a:xfrm>
            <a:custGeom>
              <a:avLst/>
              <a:gdLst/>
              <a:ahLst/>
              <a:cxnLst/>
              <a:rect l="l" t="t" r="r" b="b"/>
              <a:pathLst>
                <a:path w="493662" h="104775">
                  <a:moveTo>
                    <a:pt x="52388" y="0"/>
                  </a:moveTo>
                  <a:lnTo>
                    <a:pt x="441275" y="0"/>
                  </a:lnTo>
                  <a:cubicBezTo>
                    <a:pt x="470208" y="0"/>
                    <a:pt x="493662" y="23455"/>
                    <a:pt x="493662" y="52388"/>
                  </a:cubicBezTo>
                  <a:lnTo>
                    <a:pt x="493662" y="52388"/>
                  </a:lnTo>
                  <a:cubicBezTo>
                    <a:pt x="493662" y="66282"/>
                    <a:pt x="488143" y="79606"/>
                    <a:pt x="478318" y="89431"/>
                  </a:cubicBezTo>
                  <a:cubicBezTo>
                    <a:pt x="468494" y="99256"/>
                    <a:pt x="455169" y="104775"/>
                    <a:pt x="441275"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33" name="TextBox 33"/>
            <p:cNvSpPr txBox="1"/>
            <p:nvPr/>
          </p:nvSpPr>
          <p:spPr>
            <a:xfrm>
              <a:off x="0" y="-47625"/>
              <a:ext cx="493662" cy="152400"/>
            </a:xfrm>
            <a:prstGeom prst="rect">
              <a:avLst/>
            </a:prstGeom>
          </p:spPr>
          <p:txBody>
            <a:bodyPr lIns="50800" tIns="50800" rIns="50800" bIns="50800" rtlCol="0" anchor="ctr"/>
            <a:lstStyle/>
            <a:p>
              <a:pPr algn="ctr">
                <a:lnSpc>
                  <a:spcPts val="3448"/>
                </a:lnSpc>
              </a:pPr>
              <a:endParaRPr/>
            </a:p>
          </p:txBody>
        </p:sp>
      </p:grpSp>
      <p:grpSp>
        <p:nvGrpSpPr>
          <p:cNvPr id="34" name="Group 34"/>
          <p:cNvGrpSpPr/>
          <p:nvPr/>
        </p:nvGrpSpPr>
        <p:grpSpPr>
          <a:xfrm rot="9271553">
            <a:off x="1527938" y="6740810"/>
            <a:ext cx="6590265" cy="509207"/>
            <a:chOff x="0" y="0"/>
            <a:chExt cx="1356022" cy="104775"/>
          </a:xfrm>
        </p:grpSpPr>
        <p:sp>
          <p:nvSpPr>
            <p:cNvPr id="35" name="Freeform 35"/>
            <p:cNvSpPr/>
            <p:nvPr/>
          </p:nvSpPr>
          <p:spPr>
            <a:xfrm>
              <a:off x="0" y="0"/>
              <a:ext cx="1356022" cy="104775"/>
            </a:xfrm>
            <a:custGeom>
              <a:avLst/>
              <a:gdLst/>
              <a:ahLst/>
              <a:cxnLst/>
              <a:rect l="l" t="t" r="r" b="b"/>
              <a:pathLst>
                <a:path w="1356022" h="104775">
                  <a:moveTo>
                    <a:pt x="22944" y="0"/>
                  </a:moveTo>
                  <a:lnTo>
                    <a:pt x="1333077" y="0"/>
                  </a:lnTo>
                  <a:cubicBezTo>
                    <a:pt x="1339162" y="0"/>
                    <a:pt x="1344998" y="2417"/>
                    <a:pt x="1349301" y="6720"/>
                  </a:cubicBezTo>
                  <a:cubicBezTo>
                    <a:pt x="1353604" y="11023"/>
                    <a:pt x="1356022" y="16859"/>
                    <a:pt x="1356022" y="22944"/>
                  </a:cubicBezTo>
                  <a:lnTo>
                    <a:pt x="1356022" y="81831"/>
                  </a:lnTo>
                  <a:cubicBezTo>
                    <a:pt x="1356022" y="87916"/>
                    <a:pt x="1353604" y="93752"/>
                    <a:pt x="1349301" y="98055"/>
                  </a:cubicBezTo>
                  <a:cubicBezTo>
                    <a:pt x="1344998" y="102358"/>
                    <a:pt x="1339162" y="104775"/>
                    <a:pt x="1333077" y="104775"/>
                  </a:cubicBezTo>
                  <a:lnTo>
                    <a:pt x="22944" y="104775"/>
                  </a:lnTo>
                  <a:cubicBezTo>
                    <a:pt x="16859" y="104775"/>
                    <a:pt x="11023" y="102358"/>
                    <a:pt x="6720" y="98055"/>
                  </a:cubicBezTo>
                  <a:cubicBezTo>
                    <a:pt x="2417" y="93752"/>
                    <a:pt x="0" y="87916"/>
                    <a:pt x="0" y="81831"/>
                  </a:cubicBezTo>
                  <a:lnTo>
                    <a:pt x="0" y="22944"/>
                  </a:lnTo>
                  <a:cubicBezTo>
                    <a:pt x="0" y="16859"/>
                    <a:pt x="2417" y="11023"/>
                    <a:pt x="6720" y="6720"/>
                  </a:cubicBezTo>
                  <a:cubicBezTo>
                    <a:pt x="11023" y="2417"/>
                    <a:pt x="16859" y="0"/>
                    <a:pt x="22944" y="0"/>
                  </a:cubicBezTo>
                  <a:close/>
                </a:path>
              </a:pathLst>
            </a:custGeom>
            <a:solidFill>
              <a:srgbClr val="561269"/>
            </a:solidFill>
          </p:spPr>
        </p:sp>
        <p:sp>
          <p:nvSpPr>
            <p:cNvPr id="36" name="TextBox 36"/>
            <p:cNvSpPr txBox="1"/>
            <p:nvPr/>
          </p:nvSpPr>
          <p:spPr>
            <a:xfrm>
              <a:off x="0" y="-47625"/>
              <a:ext cx="1356022" cy="152400"/>
            </a:xfrm>
            <a:prstGeom prst="rect">
              <a:avLst/>
            </a:prstGeom>
          </p:spPr>
          <p:txBody>
            <a:bodyPr lIns="50800" tIns="50800" rIns="50800" bIns="50800" rtlCol="0" anchor="ctr"/>
            <a:lstStyle/>
            <a:p>
              <a:pPr algn="ctr">
                <a:lnSpc>
                  <a:spcPts val="3448"/>
                </a:lnSpc>
              </a:pPr>
              <a:endParaRPr/>
            </a:p>
          </p:txBody>
        </p:sp>
      </p:grpSp>
      <p:grpSp>
        <p:nvGrpSpPr>
          <p:cNvPr id="37" name="Group 37"/>
          <p:cNvGrpSpPr/>
          <p:nvPr/>
        </p:nvGrpSpPr>
        <p:grpSpPr>
          <a:xfrm rot="5400000">
            <a:off x="7428760" y="3216341"/>
            <a:ext cx="1935816" cy="509207"/>
            <a:chOff x="0" y="0"/>
            <a:chExt cx="398316" cy="104775"/>
          </a:xfrm>
        </p:grpSpPr>
        <p:sp>
          <p:nvSpPr>
            <p:cNvPr id="38" name="Freeform 38"/>
            <p:cNvSpPr/>
            <p:nvPr/>
          </p:nvSpPr>
          <p:spPr>
            <a:xfrm>
              <a:off x="0" y="0"/>
              <a:ext cx="398316" cy="104775"/>
            </a:xfrm>
            <a:custGeom>
              <a:avLst/>
              <a:gdLst/>
              <a:ahLst/>
              <a:cxnLst/>
              <a:rect l="l" t="t" r="r" b="b"/>
              <a:pathLst>
                <a:path w="398316" h="104775">
                  <a:moveTo>
                    <a:pt x="52388" y="0"/>
                  </a:moveTo>
                  <a:lnTo>
                    <a:pt x="345928" y="0"/>
                  </a:lnTo>
                  <a:cubicBezTo>
                    <a:pt x="374861" y="0"/>
                    <a:pt x="398316" y="23455"/>
                    <a:pt x="398316" y="52388"/>
                  </a:cubicBezTo>
                  <a:lnTo>
                    <a:pt x="398316" y="52388"/>
                  </a:lnTo>
                  <a:cubicBezTo>
                    <a:pt x="398316" y="66282"/>
                    <a:pt x="392797" y="79606"/>
                    <a:pt x="382972" y="89431"/>
                  </a:cubicBezTo>
                  <a:cubicBezTo>
                    <a:pt x="373147" y="99256"/>
                    <a:pt x="359822" y="104775"/>
                    <a:pt x="345928"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39" name="TextBox 39"/>
            <p:cNvSpPr txBox="1"/>
            <p:nvPr/>
          </p:nvSpPr>
          <p:spPr>
            <a:xfrm>
              <a:off x="0" y="-47625"/>
              <a:ext cx="398316" cy="152400"/>
            </a:xfrm>
            <a:prstGeom prst="rect">
              <a:avLst/>
            </a:prstGeom>
          </p:spPr>
          <p:txBody>
            <a:bodyPr lIns="50800" tIns="50800" rIns="50800" bIns="50800" rtlCol="0" anchor="ctr"/>
            <a:lstStyle/>
            <a:p>
              <a:pPr algn="ctr">
                <a:lnSpc>
                  <a:spcPts val="3448"/>
                </a:lnSpc>
              </a:pPr>
              <a:endParaRPr/>
            </a:p>
          </p:txBody>
        </p:sp>
      </p:grpSp>
      <p:grpSp>
        <p:nvGrpSpPr>
          <p:cNvPr id="40" name="Group 40"/>
          <p:cNvGrpSpPr/>
          <p:nvPr/>
        </p:nvGrpSpPr>
        <p:grpSpPr>
          <a:xfrm>
            <a:off x="7346053" y="4098312"/>
            <a:ext cx="2090377" cy="2090377"/>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42" name="TextBox 42"/>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43" name="Group 43"/>
          <p:cNvGrpSpPr/>
          <p:nvPr/>
        </p:nvGrpSpPr>
        <p:grpSpPr>
          <a:xfrm>
            <a:off x="4823070" y="1715763"/>
            <a:ext cx="2090377" cy="2090377"/>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45" name="TextBox 45"/>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46" name="Group 46"/>
          <p:cNvGrpSpPr/>
          <p:nvPr/>
        </p:nvGrpSpPr>
        <p:grpSpPr>
          <a:xfrm rot="-10800000">
            <a:off x="9257044" y="4835553"/>
            <a:ext cx="3435367" cy="515829"/>
            <a:chOff x="0" y="0"/>
            <a:chExt cx="697791" cy="104775"/>
          </a:xfrm>
        </p:grpSpPr>
        <p:sp>
          <p:nvSpPr>
            <p:cNvPr id="47" name="Freeform 47"/>
            <p:cNvSpPr/>
            <p:nvPr/>
          </p:nvSpPr>
          <p:spPr>
            <a:xfrm>
              <a:off x="0" y="0"/>
              <a:ext cx="697791" cy="104775"/>
            </a:xfrm>
            <a:custGeom>
              <a:avLst/>
              <a:gdLst/>
              <a:ahLst/>
              <a:cxnLst/>
              <a:rect l="l" t="t" r="r" b="b"/>
              <a:pathLst>
                <a:path w="697791" h="104775">
                  <a:moveTo>
                    <a:pt x="44015" y="0"/>
                  </a:moveTo>
                  <a:lnTo>
                    <a:pt x="653775" y="0"/>
                  </a:lnTo>
                  <a:cubicBezTo>
                    <a:pt x="678084" y="0"/>
                    <a:pt x="697791" y="19706"/>
                    <a:pt x="697791" y="44015"/>
                  </a:cubicBezTo>
                  <a:lnTo>
                    <a:pt x="697791" y="60760"/>
                  </a:lnTo>
                  <a:cubicBezTo>
                    <a:pt x="697791" y="85069"/>
                    <a:pt x="678084" y="104775"/>
                    <a:pt x="653775" y="104775"/>
                  </a:cubicBezTo>
                  <a:lnTo>
                    <a:pt x="44015" y="104775"/>
                  </a:lnTo>
                  <a:cubicBezTo>
                    <a:pt x="19706" y="104775"/>
                    <a:pt x="0" y="85069"/>
                    <a:pt x="0" y="60760"/>
                  </a:cubicBezTo>
                  <a:lnTo>
                    <a:pt x="0" y="44015"/>
                  </a:lnTo>
                  <a:cubicBezTo>
                    <a:pt x="0" y="19706"/>
                    <a:pt x="19706" y="0"/>
                    <a:pt x="44015" y="0"/>
                  </a:cubicBezTo>
                  <a:close/>
                </a:path>
              </a:pathLst>
            </a:custGeom>
            <a:solidFill>
              <a:srgbClr val="561269"/>
            </a:solidFill>
          </p:spPr>
        </p:sp>
        <p:sp>
          <p:nvSpPr>
            <p:cNvPr id="48" name="TextBox 48"/>
            <p:cNvSpPr txBox="1"/>
            <p:nvPr/>
          </p:nvSpPr>
          <p:spPr>
            <a:xfrm>
              <a:off x="0" y="-47625"/>
              <a:ext cx="697791" cy="152400"/>
            </a:xfrm>
            <a:prstGeom prst="rect">
              <a:avLst/>
            </a:prstGeom>
          </p:spPr>
          <p:txBody>
            <a:bodyPr lIns="50800" tIns="50800" rIns="50800" bIns="50800" rtlCol="0" anchor="ctr"/>
            <a:lstStyle/>
            <a:p>
              <a:pPr algn="ctr">
                <a:lnSpc>
                  <a:spcPts val="3448"/>
                </a:lnSpc>
              </a:pPr>
              <a:endParaRPr/>
            </a:p>
          </p:txBody>
        </p:sp>
      </p:grpSp>
      <p:grpSp>
        <p:nvGrpSpPr>
          <p:cNvPr id="49" name="Group 49"/>
          <p:cNvGrpSpPr/>
          <p:nvPr/>
        </p:nvGrpSpPr>
        <p:grpSpPr>
          <a:xfrm rot="5400000">
            <a:off x="11011857" y="3667762"/>
            <a:ext cx="2845280" cy="515829"/>
            <a:chOff x="0" y="0"/>
            <a:chExt cx="577932" cy="104775"/>
          </a:xfrm>
        </p:grpSpPr>
        <p:sp>
          <p:nvSpPr>
            <p:cNvPr id="50" name="Freeform 50"/>
            <p:cNvSpPr/>
            <p:nvPr/>
          </p:nvSpPr>
          <p:spPr>
            <a:xfrm>
              <a:off x="0" y="0"/>
              <a:ext cx="577932" cy="104775"/>
            </a:xfrm>
            <a:custGeom>
              <a:avLst/>
              <a:gdLst/>
              <a:ahLst/>
              <a:cxnLst/>
              <a:rect l="l" t="t" r="r" b="b"/>
              <a:pathLst>
                <a:path w="577932" h="104775">
                  <a:moveTo>
                    <a:pt x="52388" y="0"/>
                  </a:moveTo>
                  <a:lnTo>
                    <a:pt x="525545" y="0"/>
                  </a:lnTo>
                  <a:cubicBezTo>
                    <a:pt x="554478" y="0"/>
                    <a:pt x="577932" y="23455"/>
                    <a:pt x="577932" y="52388"/>
                  </a:cubicBezTo>
                  <a:lnTo>
                    <a:pt x="577932" y="52388"/>
                  </a:lnTo>
                  <a:cubicBezTo>
                    <a:pt x="577932" y="66282"/>
                    <a:pt x="572413" y="79606"/>
                    <a:pt x="562588" y="89431"/>
                  </a:cubicBezTo>
                  <a:cubicBezTo>
                    <a:pt x="552764" y="99256"/>
                    <a:pt x="539439" y="104775"/>
                    <a:pt x="525545"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51" name="TextBox 51"/>
            <p:cNvSpPr txBox="1"/>
            <p:nvPr/>
          </p:nvSpPr>
          <p:spPr>
            <a:xfrm>
              <a:off x="0" y="-47625"/>
              <a:ext cx="577932" cy="152400"/>
            </a:xfrm>
            <a:prstGeom prst="rect">
              <a:avLst/>
            </a:prstGeom>
          </p:spPr>
          <p:txBody>
            <a:bodyPr lIns="50800" tIns="50800" rIns="50800" bIns="50800" rtlCol="0" anchor="ctr"/>
            <a:lstStyle/>
            <a:p>
              <a:pPr algn="ctr">
                <a:lnSpc>
                  <a:spcPts val="3448"/>
                </a:lnSpc>
              </a:pPr>
              <a:endParaRPr/>
            </a:p>
          </p:txBody>
        </p:sp>
      </p:grpSp>
      <p:sp>
        <p:nvSpPr>
          <p:cNvPr id="52" name="AutoShape 52"/>
          <p:cNvSpPr/>
          <p:nvPr/>
        </p:nvSpPr>
        <p:spPr>
          <a:xfrm>
            <a:off x="9257044" y="5093467"/>
            <a:ext cx="3177453" cy="0"/>
          </a:xfrm>
          <a:prstGeom prst="line">
            <a:avLst/>
          </a:prstGeom>
          <a:ln w="38100" cap="flat">
            <a:solidFill>
              <a:srgbClr val="EDCBF6"/>
            </a:solidFill>
            <a:prstDash val="solid"/>
            <a:headEnd type="none" w="sm" len="sm"/>
            <a:tailEnd type="none" w="sm" len="sm"/>
          </a:ln>
        </p:spPr>
      </p:sp>
      <p:grpSp>
        <p:nvGrpSpPr>
          <p:cNvPr id="53" name="Group 53"/>
          <p:cNvGrpSpPr/>
          <p:nvPr/>
        </p:nvGrpSpPr>
        <p:grpSpPr>
          <a:xfrm>
            <a:off x="12176583" y="2503036"/>
            <a:ext cx="2159062" cy="515829"/>
            <a:chOff x="0" y="0"/>
            <a:chExt cx="438548" cy="104775"/>
          </a:xfrm>
        </p:grpSpPr>
        <p:sp>
          <p:nvSpPr>
            <p:cNvPr id="54" name="Freeform 54"/>
            <p:cNvSpPr/>
            <p:nvPr/>
          </p:nvSpPr>
          <p:spPr>
            <a:xfrm>
              <a:off x="0" y="0"/>
              <a:ext cx="438548" cy="104775"/>
            </a:xfrm>
            <a:custGeom>
              <a:avLst/>
              <a:gdLst/>
              <a:ahLst/>
              <a:cxnLst/>
              <a:rect l="l" t="t" r="r" b="b"/>
              <a:pathLst>
                <a:path w="438548" h="104775">
                  <a:moveTo>
                    <a:pt x="52388" y="0"/>
                  </a:moveTo>
                  <a:lnTo>
                    <a:pt x="386160" y="0"/>
                  </a:lnTo>
                  <a:cubicBezTo>
                    <a:pt x="400055" y="0"/>
                    <a:pt x="413379" y="5519"/>
                    <a:pt x="423204" y="15344"/>
                  </a:cubicBezTo>
                  <a:cubicBezTo>
                    <a:pt x="433029" y="25169"/>
                    <a:pt x="438548" y="38493"/>
                    <a:pt x="438548" y="52388"/>
                  </a:cubicBezTo>
                  <a:lnTo>
                    <a:pt x="438548" y="52388"/>
                  </a:lnTo>
                  <a:cubicBezTo>
                    <a:pt x="438548" y="81320"/>
                    <a:pt x="415093" y="104775"/>
                    <a:pt x="386160"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55" name="TextBox 55"/>
            <p:cNvSpPr txBox="1"/>
            <p:nvPr/>
          </p:nvSpPr>
          <p:spPr>
            <a:xfrm>
              <a:off x="0" y="-47625"/>
              <a:ext cx="438548" cy="152400"/>
            </a:xfrm>
            <a:prstGeom prst="rect">
              <a:avLst/>
            </a:prstGeom>
          </p:spPr>
          <p:txBody>
            <a:bodyPr lIns="50800" tIns="50800" rIns="50800" bIns="50800" rtlCol="0" anchor="ctr"/>
            <a:lstStyle/>
            <a:p>
              <a:pPr algn="ctr">
                <a:lnSpc>
                  <a:spcPts val="3448"/>
                </a:lnSpc>
              </a:pPr>
              <a:endParaRPr/>
            </a:p>
          </p:txBody>
        </p:sp>
      </p:grpSp>
      <p:grpSp>
        <p:nvGrpSpPr>
          <p:cNvPr id="56" name="Group 56"/>
          <p:cNvGrpSpPr/>
          <p:nvPr/>
        </p:nvGrpSpPr>
        <p:grpSpPr>
          <a:xfrm rot="-10800000">
            <a:off x="6529547" y="2503036"/>
            <a:ext cx="2121724" cy="515829"/>
            <a:chOff x="0" y="0"/>
            <a:chExt cx="430964" cy="104775"/>
          </a:xfrm>
        </p:grpSpPr>
        <p:sp>
          <p:nvSpPr>
            <p:cNvPr id="57" name="Freeform 57"/>
            <p:cNvSpPr/>
            <p:nvPr/>
          </p:nvSpPr>
          <p:spPr>
            <a:xfrm>
              <a:off x="0" y="0"/>
              <a:ext cx="430964" cy="104775"/>
            </a:xfrm>
            <a:custGeom>
              <a:avLst/>
              <a:gdLst/>
              <a:ahLst/>
              <a:cxnLst/>
              <a:rect l="l" t="t" r="r" b="b"/>
              <a:pathLst>
                <a:path w="430964" h="104775">
                  <a:moveTo>
                    <a:pt x="52388" y="0"/>
                  </a:moveTo>
                  <a:lnTo>
                    <a:pt x="378576" y="0"/>
                  </a:lnTo>
                  <a:cubicBezTo>
                    <a:pt x="392470" y="0"/>
                    <a:pt x="405795" y="5519"/>
                    <a:pt x="415620" y="15344"/>
                  </a:cubicBezTo>
                  <a:cubicBezTo>
                    <a:pt x="425444" y="25169"/>
                    <a:pt x="430964" y="38493"/>
                    <a:pt x="430964" y="52388"/>
                  </a:cubicBezTo>
                  <a:lnTo>
                    <a:pt x="430964" y="52388"/>
                  </a:lnTo>
                  <a:cubicBezTo>
                    <a:pt x="430964" y="81320"/>
                    <a:pt x="407509" y="104775"/>
                    <a:pt x="378576" y="104775"/>
                  </a:cubicBezTo>
                  <a:lnTo>
                    <a:pt x="52388" y="104775"/>
                  </a:lnTo>
                  <a:cubicBezTo>
                    <a:pt x="23455" y="104775"/>
                    <a:pt x="0" y="81320"/>
                    <a:pt x="0" y="52388"/>
                  </a:cubicBezTo>
                  <a:lnTo>
                    <a:pt x="0" y="52388"/>
                  </a:lnTo>
                  <a:cubicBezTo>
                    <a:pt x="0" y="23455"/>
                    <a:pt x="23455" y="0"/>
                    <a:pt x="52388" y="0"/>
                  </a:cubicBezTo>
                  <a:close/>
                </a:path>
              </a:pathLst>
            </a:custGeom>
            <a:solidFill>
              <a:srgbClr val="561269"/>
            </a:solidFill>
          </p:spPr>
        </p:sp>
        <p:sp>
          <p:nvSpPr>
            <p:cNvPr id="58" name="TextBox 58"/>
            <p:cNvSpPr txBox="1"/>
            <p:nvPr/>
          </p:nvSpPr>
          <p:spPr>
            <a:xfrm>
              <a:off x="0" y="-47625"/>
              <a:ext cx="430964" cy="152400"/>
            </a:xfrm>
            <a:prstGeom prst="rect">
              <a:avLst/>
            </a:prstGeom>
          </p:spPr>
          <p:txBody>
            <a:bodyPr lIns="50800" tIns="50800" rIns="50800" bIns="50800" rtlCol="0" anchor="ctr"/>
            <a:lstStyle/>
            <a:p>
              <a:pPr algn="ctr">
                <a:lnSpc>
                  <a:spcPts val="3448"/>
                </a:lnSpc>
              </a:pPr>
              <a:endParaRPr/>
            </a:p>
          </p:txBody>
        </p:sp>
      </p:grpSp>
      <p:grpSp>
        <p:nvGrpSpPr>
          <p:cNvPr id="59" name="Group 59"/>
          <p:cNvGrpSpPr/>
          <p:nvPr/>
        </p:nvGrpSpPr>
        <p:grpSpPr>
          <a:xfrm>
            <a:off x="13504978" y="7425612"/>
            <a:ext cx="2090377" cy="2090377"/>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61" name="TextBox 61"/>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grpSp>
        <p:nvGrpSpPr>
          <p:cNvPr id="62" name="Group 62"/>
          <p:cNvGrpSpPr/>
          <p:nvPr/>
        </p:nvGrpSpPr>
        <p:grpSpPr>
          <a:xfrm>
            <a:off x="13504978" y="1715763"/>
            <a:ext cx="2090377" cy="2090377"/>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64" name="TextBox 64"/>
            <p:cNvSpPr txBox="1"/>
            <p:nvPr/>
          </p:nvSpPr>
          <p:spPr>
            <a:xfrm>
              <a:off x="76200" y="28575"/>
              <a:ext cx="660400" cy="708025"/>
            </a:xfrm>
            <a:prstGeom prst="rect">
              <a:avLst/>
            </a:prstGeom>
          </p:spPr>
          <p:txBody>
            <a:bodyPr lIns="50800" tIns="50800" rIns="50800" bIns="50800" rtlCol="0" anchor="ctr"/>
            <a:lstStyle/>
            <a:p>
              <a:pPr algn="ctr">
                <a:lnSpc>
                  <a:spcPts val="3448"/>
                </a:lnSpc>
              </a:pPr>
              <a:endParaRPr/>
            </a:p>
          </p:txBody>
        </p:sp>
      </p:grpSp>
      <p:sp>
        <p:nvSpPr>
          <p:cNvPr id="65" name="Freeform 65"/>
          <p:cNvSpPr/>
          <p:nvPr/>
        </p:nvSpPr>
        <p:spPr>
          <a:xfrm>
            <a:off x="1172355" y="5077483"/>
            <a:ext cx="1138399" cy="1512365"/>
          </a:xfrm>
          <a:custGeom>
            <a:avLst/>
            <a:gdLst/>
            <a:ahLst/>
            <a:cxnLst/>
            <a:rect l="l" t="t" r="r" b="b"/>
            <a:pathLst>
              <a:path w="1138399" h="1512365">
                <a:moveTo>
                  <a:pt x="0" y="0"/>
                </a:moveTo>
                <a:lnTo>
                  <a:pt x="1138398" y="0"/>
                </a:lnTo>
                <a:lnTo>
                  <a:pt x="1138398" y="1512365"/>
                </a:lnTo>
                <a:lnTo>
                  <a:pt x="0" y="1512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6" name="Freeform 66"/>
          <p:cNvSpPr/>
          <p:nvPr/>
        </p:nvSpPr>
        <p:spPr>
          <a:xfrm>
            <a:off x="1092971" y="8231404"/>
            <a:ext cx="1291630" cy="1284585"/>
          </a:xfrm>
          <a:custGeom>
            <a:avLst/>
            <a:gdLst/>
            <a:ahLst/>
            <a:cxnLst/>
            <a:rect l="l" t="t" r="r" b="b"/>
            <a:pathLst>
              <a:path w="1291630" h="1284585">
                <a:moveTo>
                  <a:pt x="0" y="0"/>
                </a:moveTo>
                <a:lnTo>
                  <a:pt x="1291630" y="0"/>
                </a:lnTo>
                <a:lnTo>
                  <a:pt x="1291630" y="1284585"/>
                </a:lnTo>
                <a:lnTo>
                  <a:pt x="0" y="12845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7" name="Freeform 67"/>
          <p:cNvSpPr/>
          <p:nvPr/>
        </p:nvSpPr>
        <p:spPr>
          <a:xfrm>
            <a:off x="5223641" y="2057181"/>
            <a:ext cx="1276517" cy="1376636"/>
          </a:xfrm>
          <a:custGeom>
            <a:avLst/>
            <a:gdLst/>
            <a:ahLst/>
            <a:cxnLst/>
            <a:rect l="l" t="t" r="r" b="b"/>
            <a:pathLst>
              <a:path w="1276517" h="1376636">
                <a:moveTo>
                  <a:pt x="0" y="0"/>
                </a:moveTo>
                <a:lnTo>
                  <a:pt x="1276517" y="0"/>
                </a:lnTo>
                <a:lnTo>
                  <a:pt x="1276517" y="1376636"/>
                </a:lnTo>
                <a:lnTo>
                  <a:pt x="0" y="13766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8" name="Freeform 68"/>
          <p:cNvSpPr/>
          <p:nvPr/>
        </p:nvSpPr>
        <p:spPr>
          <a:xfrm>
            <a:off x="7727472" y="4417535"/>
            <a:ext cx="1338392" cy="1345732"/>
          </a:xfrm>
          <a:custGeom>
            <a:avLst/>
            <a:gdLst/>
            <a:ahLst/>
            <a:cxnLst/>
            <a:rect l="l" t="t" r="r" b="b"/>
            <a:pathLst>
              <a:path w="1338392" h="1345732">
                <a:moveTo>
                  <a:pt x="0" y="0"/>
                </a:moveTo>
                <a:lnTo>
                  <a:pt x="1338392" y="0"/>
                </a:lnTo>
                <a:lnTo>
                  <a:pt x="1338392" y="1345733"/>
                </a:lnTo>
                <a:lnTo>
                  <a:pt x="0" y="1345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69" name="Freeform 69"/>
          <p:cNvSpPr/>
          <p:nvPr/>
        </p:nvSpPr>
        <p:spPr>
          <a:xfrm>
            <a:off x="7805608" y="8111672"/>
            <a:ext cx="1338392" cy="1524049"/>
          </a:xfrm>
          <a:custGeom>
            <a:avLst/>
            <a:gdLst/>
            <a:ahLst/>
            <a:cxnLst/>
            <a:rect l="l" t="t" r="r" b="b"/>
            <a:pathLst>
              <a:path w="1338392" h="1524049">
                <a:moveTo>
                  <a:pt x="0" y="0"/>
                </a:moveTo>
                <a:lnTo>
                  <a:pt x="1338392" y="0"/>
                </a:lnTo>
                <a:lnTo>
                  <a:pt x="1338392" y="1524049"/>
                </a:lnTo>
                <a:lnTo>
                  <a:pt x="0" y="1524049"/>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70" name="Freeform 70"/>
          <p:cNvSpPr/>
          <p:nvPr/>
        </p:nvSpPr>
        <p:spPr>
          <a:xfrm>
            <a:off x="13841903" y="2128153"/>
            <a:ext cx="1416528" cy="1342791"/>
          </a:xfrm>
          <a:custGeom>
            <a:avLst/>
            <a:gdLst/>
            <a:ahLst/>
            <a:cxnLst/>
            <a:rect l="l" t="t" r="r" b="b"/>
            <a:pathLst>
              <a:path w="1416528" h="1342791">
                <a:moveTo>
                  <a:pt x="0" y="0"/>
                </a:moveTo>
                <a:lnTo>
                  <a:pt x="1416528" y="0"/>
                </a:lnTo>
                <a:lnTo>
                  <a:pt x="1416528" y="1342791"/>
                </a:lnTo>
                <a:lnTo>
                  <a:pt x="0" y="134279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71" name="Freeform 71"/>
          <p:cNvSpPr/>
          <p:nvPr/>
        </p:nvSpPr>
        <p:spPr>
          <a:xfrm>
            <a:off x="13863617" y="7773394"/>
            <a:ext cx="1394814" cy="1394814"/>
          </a:xfrm>
          <a:custGeom>
            <a:avLst/>
            <a:gdLst/>
            <a:ahLst/>
            <a:cxnLst/>
            <a:rect l="l" t="t" r="r" b="b"/>
            <a:pathLst>
              <a:path w="1394814" h="1394814">
                <a:moveTo>
                  <a:pt x="0" y="0"/>
                </a:moveTo>
                <a:lnTo>
                  <a:pt x="1394814" y="0"/>
                </a:lnTo>
                <a:lnTo>
                  <a:pt x="1394814" y="1394814"/>
                </a:lnTo>
                <a:lnTo>
                  <a:pt x="0" y="139481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72" name="TextBox 72"/>
          <p:cNvSpPr txBox="1"/>
          <p:nvPr/>
        </p:nvSpPr>
        <p:spPr>
          <a:xfrm>
            <a:off x="3737833" y="627387"/>
            <a:ext cx="10812333" cy="1088375"/>
          </a:xfrm>
          <a:prstGeom prst="rect">
            <a:avLst/>
          </a:prstGeom>
        </p:spPr>
        <p:txBody>
          <a:bodyPr lIns="0" tIns="0" rIns="0" bIns="0" rtlCol="0" anchor="t">
            <a:spAutoFit/>
          </a:bodyPr>
          <a:lstStyle/>
          <a:p>
            <a:pPr algn="l">
              <a:lnSpc>
                <a:spcPts val="4884"/>
              </a:lnSpc>
            </a:pPr>
            <a:r>
              <a:rPr lang="en-US" sz="6522" b="1">
                <a:solidFill>
                  <a:srgbClr val="2B0934"/>
                </a:solidFill>
                <a:latin typeface="Montserrat Bold"/>
                <a:ea typeface="Montserrat Bold"/>
                <a:cs typeface="Montserrat Bold"/>
                <a:sym typeface="Montserrat Bold"/>
              </a:rPr>
              <a:t> SYSTEM ARCHITECTURE </a:t>
            </a:r>
          </a:p>
          <a:p>
            <a:pPr algn="ctr">
              <a:lnSpc>
                <a:spcPts val="6007"/>
              </a:lnSpc>
            </a:pPr>
            <a:endParaRPr lang="en-US" sz="6522" b="1">
              <a:solidFill>
                <a:srgbClr val="2B0934"/>
              </a:solidFill>
              <a:latin typeface="Montserrat Bold"/>
              <a:ea typeface="Montserrat Bold"/>
              <a:cs typeface="Montserrat Bold"/>
              <a:sym typeface="Montserrat Bold"/>
            </a:endParaRPr>
          </a:p>
        </p:txBody>
      </p:sp>
      <p:sp>
        <p:nvSpPr>
          <p:cNvPr id="73" name="TextBox 73"/>
          <p:cNvSpPr txBox="1"/>
          <p:nvPr/>
        </p:nvSpPr>
        <p:spPr>
          <a:xfrm>
            <a:off x="2468026" y="1643492"/>
            <a:ext cx="1082635"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Patient</a:t>
            </a:r>
          </a:p>
        </p:txBody>
      </p:sp>
      <p:sp>
        <p:nvSpPr>
          <p:cNvPr id="74" name="TextBox 74"/>
          <p:cNvSpPr txBox="1"/>
          <p:nvPr/>
        </p:nvSpPr>
        <p:spPr>
          <a:xfrm>
            <a:off x="6583222" y="1674395"/>
            <a:ext cx="1205865"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Sensors</a:t>
            </a:r>
          </a:p>
        </p:txBody>
      </p:sp>
      <p:sp>
        <p:nvSpPr>
          <p:cNvPr id="75" name="TextBox 75"/>
          <p:cNvSpPr txBox="1"/>
          <p:nvPr/>
        </p:nvSpPr>
        <p:spPr>
          <a:xfrm>
            <a:off x="2468026" y="4784862"/>
            <a:ext cx="2772489"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Wearable devices </a:t>
            </a:r>
          </a:p>
        </p:txBody>
      </p:sp>
      <p:sp>
        <p:nvSpPr>
          <p:cNvPr id="76" name="TextBox 76"/>
          <p:cNvSpPr txBox="1"/>
          <p:nvPr/>
        </p:nvSpPr>
        <p:spPr>
          <a:xfrm>
            <a:off x="2642168" y="9410700"/>
            <a:ext cx="1987272"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Medical Data</a:t>
            </a:r>
          </a:p>
        </p:txBody>
      </p:sp>
      <p:sp>
        <p:nvSpPr>
          <p:cNvPr id="77" name="TextBox 77"/>
          <p:cNvSpPr txBox="1"/>
          <p:nvPr/>
        </p:nvSpPr>
        <p:spPr>
          <a:xfrm>
            <a:off x="9436429" y="9120583"/>
            <a:ext cx="1202769"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Doctors</a:t>
            </a:r>
          </a:p>
        </p:txBody>
      </p:sp>
      <p:sp>
        <p:nvSpPr>
          <p:cNvPr id="78" name="TextBox 78"/>
          <p:cNvSpPr txBox="1"/>
          <p:nvPr/>
        </p:nvSpPr>
        <p:spPr>
          <a:xfrm>
            <a:off x="9065864" y="4003846"/>
            <a:ext cx="895350"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Cloud</a:t>
            </a:r>
          </a:p>
        </p:txBody>
      </p:sp>
      <p:sp>
        <p:nvSpPr>
          <p:cNvPr id="79" name="TextBox 79"/>
          <p:cNvSpPr txBox="1"/>
          <p:nvPr/>
        </p:nvSpPr>
        <p:spPr>
          <a:xfrm>
            <a:off x="14127986" y="3758514"/>
            <a:ext cx="1926908"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Data storage</a:t>
            </a:r>
          </a:p>
        </p:txBody>
      </p:sp>
      <p:sp>
        <p:nvSpPr>
          <p:cNvPr id="80" name="TextBox 80"/>
          <p:cNvSpPr txBox="1"/>
          <p:nvPr/>
        </p:nvSpPr>
        <p:spPr>
          <a:xfrm>
            <a:off x="14335645" y="7011923"/>
            <a:ext cx="3154680" cy="413690"/>
          </a:xfrm>
          <a:prstGeom prst="rect">
            <a:avLst/>
          </a:prstGeom>
        </p:spPr>
        <p:txBody>
          <a:bodyPr lIns="0" tIns="0" rIns="0" bIns="0" rtlCol="0" anchor="t">
            <a:spAutoFit/>
          </a:bodyPr>
          <a:lstStyle/>
          <a:p>
            <a:pPr algn="ctr">
              <a:lnSpc>
                <a:spcPts val="3448"/>
              </a:lnSpc>
              <a:spcBef>
                <a:spcPct val="0"/>
              </a:spcBef>
            </a:pPr>
            <a:r>
              <a:rPr lang="en-US" sz="2463" b="1">
                <a:solidFill>
                  <a:srgbClr val="2B0934"/>
                </a:solidFill>
                <a:latin typeface="DM Sans Bold"/>
                <a:ea typeface="DM Sans Bold"/>
                <a:cs typeface="DM Sans Bold"/>
                <a:sym typeface="DM Sans Bold"/>
              </a:rPr>
              <a:t>Analytics Processing</a:t>
            </a:r>
          </a:p>
        </p:txBody>
      </p:sp>
      <p:sp>
        <p:nvSpPr>
          <p:cNvPr id="81" name="TextBox 81"/>
          <p:cNvSpPr txBox="1"/>
          <p:nvPr/>
        </p:nvSpPr>
        <p:spPr>
          <a:xfrm rot="-1535223">
            <a:off x="3584068" y="6767091"/>
            <a:ext cx="2457436" cy="413690"/>
          </a:xfrm>
          <a:prstGeom prst="rect">
            <a:avLst/>
          </a:prstGeom>
        </p:spPr>
        <p:txBody>
          <a:bodyPr lIns="0" tIns="0" rIns="0" bIns="0" rtlCol="0" anchor="t">
            <a:spAutoFit/>
          </a:bodyPr>
          <a:lstStyle/>
          <a:p>
            <a:pPr algn="ctr">
              <a:lnSpc>
                <a:spcPts val="3448"/>
              </a:lnSpc>
              <a:spcBef>
                <a:spcPct val="0"/>
              </a:spcBef>
            </a:pPr>
            <a:r>
              <a:rPr lang="en-US" sz="2463" b="1">
                <a:solidFill>
                  <a:srgbClr val="EDCBF6"/>
                </a:solidFill>
                <a:latin typeface="DM Sans Bold"/>
                <a:ea typeface="DM Sans Bold"/>
                <a:cs typeface="DM Sans Bold"/>
                <a:sym typeface="DM Sans Bold"/>
              </a:rPr>
              <a:t>Real time alerts </a:t>
            </a:r>
          </a:p>
        </p:txBody>
      </p:sp>
      <p:sp>
        <p:nvSpPr>
          <p:cNvPr id="82" name="AutoShape 82"/>
          <p:cNvSpPr/>
          <p:nvPr/>
        </p:nvSpPr>
        <p:spPr>
          <a:xfrm flipV="1">
            <a:off x="5931288" y="5763268"/>
            <a:ext cx="1550872" cy="701484"/>
          </a:xfrm>
          <a:prstGeom prst="line">
            <a:avLst/>
          </a:prstGeom>
          <a:ln w="38100" cap="flat">
            <a:solidFill>
              <a:srgbClr val="EDCBF6"/>
            </a:solidFill>
            <a:prstDash val="solid"/>
            <a:headEnd type="none" w="sm" len="sm"/>
            <a:tailEnd type="none" w="sm" len="sm"/>
          </a:ln>
        </p:spPr>
      </p:sp>
      <p:sp>
        <p:nvSpPr>
          <p:cNvPr id="83" name="AutoShape 83"/>
          <p:cNvSpPr/>
          <p:nvPr/>
        </p:nvSpPr>
        <p:spPr>
          <a:xfrm flipH="1">
            <a:off x="2452279" y="7526075"/>
            <a:ext cx="1149529" cy="621313"/>
          </a:xfrm>
          <a:prstGeom prst="line">
            <a:avLst/>
          </a:prstGeom>
          <a:ln w="38100" cap="flat">
            <a:solidFill>
              <a:srgbClr val="EDCBF6"/>
            </a:solidFill>
            <a:prstDash val="solid"/>
            <a:headEnd type="none" w="sm" len="sm"/>
            <a:tailEnd type="arrow" w="med" len="sm"/>
          </a:ln>
        </p:spPr>
      </p:sp>
      <p:sp>
        <p:nvSpPr>
          <p:cNvPr id="84" name="TextBox 84"/>
          <p:cNvSpPr txBox="1"/>
          <p:nvPr/>
        </p:nvSpPr>
        <p:spPr>
          <a:xfrm>
            <a:off x="4113986" y="8773039"/>
            <a:ext cx="1502682" cy="413690"/>
          </a:xfrm>
          <a:prstGeom prst="rect">
            <a:avLst/>
          </a:prstGeom>
        </p:spPr>
        <p:txBody>
          <a:bodyPr lIns="0" tIns="0" rIns="0" bIns="0" rtlCol="0" anchor="t">
            <a:spAutoFit/>
          </a:bodyPr>
          <a:lstStyle/>
          <a:p>
            <a:pPr algn="ctr">
              <a:lnSpc>
                <a:spcPts val="3448"/>
              </a:lnSpc>
              <a:spcBef>
                <a:spcPct val="0"/>
              </a:spcBef>
            </a:pPr>
            <a:r>
              <a:rPr lang="en-US" sz="2463" b="1">
                <a:solidFill>
                  <a:srgbClr val="EDCBF6"/>
                </a:solidFill>
                <a:latin typeface="DM Sans Bold"/>
                <a:ea typeface="DM Sans Bold"/>
                <a:cs typeface="DM Sans Bold"/>
                <a:sym typeface="DM Sans Bold"/>
              </a:rPr>
              <a:t>Diagnosis</a:t>
            </a:r>
          </a:p>
        </p:txBody>
      </p:sp>
      <p:sp>
        <p:nvSpPr>
          <p:cNvPr id="85" name="AutoShape 85"/>
          <p:cNvSpPr/>
          <p:nvPr/>
        </p:nvSpPr>
        <p:spPr>
          <a:xfrm flipH="1">
            <a:off x="2784358" y="9022743"/>
            <a:ext cx="1306428" cy="26337"/>
          </a:xfrm>
          <a:prstGeom prst="line">
            <a:avLst/>
          </a:prstGeom>
          <a:ln w="38100" cap="flat">
            <a:solidFill>
              <a:srgbClr val="EDCBF6"/>
            </a:solidFill>
            <a:prstDash val="solid"/>
            <a:headEnd type="none" w="sm" len="sm"/>
            <a:tailEnd type="arrow" w="med" len="sm"/>
          </a:ln>
        </p:spPr>
      </p:sp>
      <p:sp>
        <p:nvSpPr>
          <p:cNvPr id="86" name="AutoShape 86"/>
          <p:cNvSpPr/>
          <p:nvPr/>
        </p:nvSpPr>
        <p:spPr>
          <a:xfrm flipH="1">
            <a:off x="1663214" y="6804979"/>
            <a:ext cx="56522" cy="1155968"/>
          </a:xfrm>
          <a:prstGeom prst="line">
            <a:avLst/>
          </a:prstGeom>
          <a:ln w="38100" cap="flat">
            <a:solidFill>
              <a:srgbClr val="EDCBF6"/>
            </a:solidFill>
            <a:prstDash val="solid"/>
            <a:headEnd type="none" w="sm" len="sm"/>
            <a:tailEnd type="arrow" w="med" len="sm"/>
          </a:ln>
        </p:spPr>
      </p:sp>
      <p:sp>
        <p:nvSpPr>
          <p:cNvPr id="87" name="AutoShape 87"/>
          <p:cNvSpPr/>
          <p:nvPr/>
        </p:nvSpPr>
        <p:spPr>
          <a:xfrm>
            <a:off x="1719736" y="3806139"/>
            <a:ext cx="0" cy="1157349"/>
          </a:xfrm>
          <a:prstGeom prst="line">
            <a:avLst/>
          </a:prstGeom>
          <a:ln w="38100" cap="flat">
            <a:solidFill>
              <a:srgbClr val="EDCBF6"/>
            </a:solidFill>
            <a:prstDash val="solid"/>
            <a:headEnd type="none" w="sm" len="sm"/>
            <a:tailEnd type="arrow" w="med" len="sm"/>
          </a:ln>
        </p:spPr>
      </p:sp>
      <p:sp>
        <p:nvSpPr>
          <p:cNvPr id="88" name="AutoShape 88"/>
          <p:cNvSpPr/>
          <p:nvPr/>
        </p:nvSpPr>
        <p:spPr>
          <a:xfrm>
            <a:off x="2871159" y="2707818"/>
            <a:ext cx="2024023" cy="37681"/>
          </a:xfrm>
          <a:prstGeom prst="line">
            <a:avLst/>
          </a:prstGeom>
          <a:ln w="38100" cap="flat">
            <a:solidFill>
              <a:srgbClr val="EDCBF6"/>
            </a:solidFill>
            <a:prstDash val="solid"/>
            <a:headEnd type="none" w="sm" len="sm"/>
            <a:tailEnd type="arrow" w="med" len="sm"/>
          </a:ln>
        </p:spPr>
      </p:sp>
      <p:sp>
        <p:nvSpPr>
          <p:cNvPr id="89" name="AutoShape 89"/>
          <p:cNvSpPr/>
          <p:nvPr/>
        </p:nvSpPr>
        <p:spPr>
          <a:xfrm flipH="1">
            <a:off x="8372191" y="2799549"/>
            <a:ext cx="19050" cy="1434954"/>
          </a:xfrm>
          <a:prstGeom prst="line">
            <a:avLst/>
          </a:prstGeom>
          <a:ln w="38100" cap="flat">
            <a:solidFill>
              <a:srgbClr val="EDCBF6"/>
            </a:solidFill>
            <a:prstDash val="solid"/>
            <a:headEnd type="none" w="sm" len="sm"/>
            <a:tailEnd type="arrow" w="med" len="sm"/>
          </a:ln>
        </p:spPr>
      </p:sp>
      <p:sp>
        <p:nvSpPr>
          <p:cNvPr id="90" name="AutoShape 90"/>
          <p:cNvSpPr/>
          <p:nvPr/>
        </p:nvSpPr>
        <p:spPr>
          <a:xfrm flipV="1">
            <a:off x="7059796" y="2786794"/>
            <a:ext cx="1341595" cy="12754"/>
          </a:xfrm>
          <a:prstGeom prst="line">
            <a:avLst/>
          </a:prstGeom>
          <a:ln w="38100" cap="flat">
            <a:solidFill>
              <a:srgbClr val="EDCBF6"/>
            </a:solidFill>
            <a:prstDash val="solid"/>
            <a:headEnd type="none" w="sm" len="sm"/>
            <a:tailEnd type="none" w="sm" len="sm"/>
          </a:ln>
        </p:spPr>
      </p:sp>
      <p:sp>
        <p:nvSpPr>
          <p:cNvPr id="91" name="AutoShape 91"/>
          <p:cNvSpPr/>
          <p:nvPr/>
        </p:nvSpPr>
        <p:spPr>
          <a:xfrm flipV="1">
            <a:off x="12434497" y="2741904"/>
            <a:ext cx="1155801" cy="3595"/>
          </a:xfrm>
          <a:prstGeom prst="line">
            <a:avLst/>
          </a:prstGeom>
          <a:ln w="38100" cap="flat">
            <a:solidFill>
              <a:srgbClr val="EDCBF6"/>
            </a:solidFill>
            <a:prstDash val="solid"/>
            <a:headEnd type="none" w="sm" len="sm"/>
            <a:tailEnd type="arrow" w="med" len="sm"/>
          </a:ln>
        </p:spPr>
      </p:sp>
      <p:sp>
        <p:nvSpPr>
          <p:cNvPr id="92" name="AutoShape 92"/>
          <p:cNvSpPr/>
          <p:nvPr/>
        </p:nvSpPr>
        <p:spPr>
          <a:xfrm>
            <a:off x="12434497" y="2741904"/>
            <a:ext cx="0" cy="2348497"/>
          </a:xfrm>
          <a:prstGeom prst="line">
            <a:avLst/>
          </a:prstGeom>
          <a:ln w="38100" cap="flat">
            <a:solidFill>
              <a:srgbClr val="EDCBF6"/>
            </a:solidFill>
            <a:prstDash val="solid"/>
            <a:headEnd type="none" w="sm" len="sm"/>
            <a:tailEnd type="none" w="sm" len="sm"/>
          </a:ln>
        </p:spPr>
      </p:sp>
      <p:sp>
        <p:nvSpPr>
          <p:cNvPr id="93" name="AutoShape 93"/>
          <p:cNvSpPr/>
          <p:nvPr/>
        </p:nvSpPr>
        <p:spPr>
          <a:xfrm flipH="1" flipV="1">
            <a:off x="9199746" y="5876312"/>
            <a:ext cx="4305232" cy="1989664"/>
          </a:xfrm>
          <a:prstGeom prst="line">
            <a:avLst/>
          </a:prstGeom>
          <a:ln w="38100" cap="flat">
            <a:solidFill>
              <a:srgbClr val="EDCBF6"/>
            </a:solidFill>
            <a:prstDash val="solid"/>
            <a:headEnd type="none" w="sm" len="sm"/>
            <a:tailEnd type="arrow" w="med" len="sm"/>
          </a:ln>
        </p:spPr>
      </p:sp>
      <p:sp>
        <p:nvSpPr>
          <p:cNvPr id="94" name="AutoShape 94"/>
          <p:cNvSpPr/>
          <p:nvPr/>
        </p:nvSpPr>
        <p:spPr>
          <a:xfrm flipH="1">
            <a:off x="8372191" y="6116232"/>
            <a:ext cx="1860" cy="1749744"/>
          </a:xfrm>
          <a:prstGeom prst="line">
            <a:avLst/>
          </a:prstGeom>
          <a:ln w="38100" cap="flat">
            <a:solidFill>
              <a:srgbClr val="EDCBF6"/>
            </a:solidFill>
            <a:prstDash val="solid"/>
            <a:headEnd type="none" w="sm" len="sm"/>
            <a:tailEnd type="arrow" w="med" len="sm"/>
          </a:ln>
        </p:spPr>
      </p:sp>
      <p:sp>
        <p:nvSpPr>
          <p:cNvPr id="95" name="TextBox 95"/>
          <p:cNvSpPr txBox="1"/>
          <p:nvPr/>
        </p:nvSpPr>
        <p:spPr>
          <a:xfrm rot="1504201">
            <a:off x="9064743" y="7127758"/>
            <a:ext cx="4216720" cy="413690"/>
          </a:xfrm>
          <a:prstGeom prst="rect">
            <a:avLst/>
          </a:prstGeom>
        </p:spPr>
        <p:txBody>
          <a:bodyPr lIns="0" tIns="0" rIns="0" bIns="0" rtlCol="0" anchor="t">
            <a:spAutoFit/>
          </a:bodyPr>
          <a:lstStyle/>
          <a:p>
            <a:pPr algn="ctr">
              <a:lnSpc>
                <a:spcPts val="3448"/>
              </a:lnSpc>
              <a:spcBef>
                <a:spcPct val="0"/>
              </a:spcBef>
            </a:pPr>
            <a:r>
              <a:rPr lang="en-US" sz="2463" b="1">
                <a:solidFill>
                  <a:srgbClr val="FFFFFF"/>
                </a:solidFill>
                <a:latin typeface="DM Sans Bold"/>
                <a:ea typeface="DM Sans Bold"/>
                <a:cs typeface="DM Sans Bold"/>
                <a:sym typeface="DM Sans Bold"/>
              </a:rPr>
              <a:t>Patient health report</a:t>
            </a:r>
          </a:p>
        </p:txBody>
      </p:sp>
      <p:sp>
        <p:nvSpPr>
          <p:cNvPr id="96" name="TextBox 96"/>
          <p:cNvSpPr txBox="1"/>
          <p:nvPr/>
        </p:nvSpPr>
        <p:spPr>
          <a:xfrm>
            <a:off x="2005322" y="6985640"/>
            <a:ext cx="925408" cy="413690"/>
          </a:xfrm>
          <a:prstGeom prst="rect">
            <a:avLst/>
          </a:prstGeom>
        </p:spPr>
        <p:txBody>
          <a:bodyPr lIns="0" tIns="0" rIns="0" bIns="0" rtlCol="0" anchor="t">
            <a:spAutoFit/>
          </a:bodyPr>
          <a:lstStyle/>
          <a:p>
            <a:pPr algn="ctr">
              <a:lnSpc>
                <a:spcPts val="3448"/>
              </a:lnSpc>
              <a:spcBef>
                <a:spcPct val="0"/>
              </a:spcBef>
            </a:pPr>
            <a:r>
              <a:rPr lang="en-US" sz="2463" b="1">
                <a:solidFill>
                  <a:srgbClr val="FFFFFF"/>
                </a:solidFill>
                <a:latin typeface="DM Sans Bold"/>
                <a:ea typeface="DM Sans Bold"/>
                <a:cs typeface="DM Sans Bold"/>
                <a:sym typeface="DM Sans Bold"/>
              </a:rPr>
              <a:t>Data</a:t>
            </a:r>
          </a:p>
        </p:txBody>
      </p:sp>
      <p:sp>
        <p:nvSpPr>
          <p:cNvPr id="97" name="TextBox 97"/>
          <p:cNvSpPr txBox="1"/>
          <p:nvPr/>
        </p:nvSpPr>
        <p:spPr>
          <a:xfrm>
            <a:off x="8713021" y="2652959"/>
            <a:ext cx="925408" cy="413690"/>
          </a:xfrm>
          <a:prstGeom prst="rect">
            <a:avLst/>
          </a:prstGeom>
        </p:spPr>
        <p:txBody>
          <a:bodyPr lIns="0" tIns="0" rIns="0" bIns="0" rtlCol="0" anchor="t">
            <a:spAutoFit/>
          </a:bodyPr>
          <a:lstStyle/>
          <a:p>
            <a:pPr algn="ctr">
              <a:lnSpc>
                <a:spcPts val="3448"/>
              </a:lnSpc>
              <a:spcBef>
                <a:spcPct val="0"/>
              </a:spcBef>
            </a:pPr>
            <a:r>
              <a:rPr lang="en-US" sz="2463" b="1">
                <a:solidFill>
                  <a:srgbClr val="FFFFFF"/>
                </a:solidFill>
                <a:latin typeface="DM Sans Bold"/>
                <a:ea typeface="DM Sans Bold"/>
                <a:cs typeface="DM Sans Bold"/>
                <a:sym typeface="DM Sans Bold"/>
              </a:rPr>
              <a:t>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p:grpSp>
        <p:nvGrpSpPr>
          <p:cNvPr id="2" name="Group 2"/>
          <p:cNvGrpSpPr/>
          <p:nvPr/>
        </p:nvGrpSpPr>
        <p:grpSpPr>
          <a:xfrm>
            <a:off x="8202908" y="1715763"/>
            <a:ext cx="1882183" cy="1013619"/>
            <a:chOff x="0" y="0"/>
            <a:chExt cx="495719" cy="266961"/>
          </a:xfrm>
        </p:grpSpPr>
        <p:sp>
          <p:nvSpPr>
            <p:cNvPr id="3" name="Freeform 3"/>
            <p:cNvSpPr/>
            <p:nvPr/>
          </p:nvSpPr>
          <p:spPr>
            <a:xfrm>
              <a:off x="0" y="0"/>
              <a:ext cx="495719" cy="266961"/>
            </a:xfrm>
            <a:custGeom>
              <a:avLst/>
              <a:gdLst/>
              <a:ahLst/>
              <a:cxnLst/>
              <a:rect l="l" t="t" r="r" b="b"/>
              <a:pathLst>
                <a:path w="495719" h="266961">
                  <a:moveTo>
                    <a:pt x="247860" y="0"/>
                  </a:moveTo>
                  <a:cubicBezTo>
                    <a:pt x="110970" y="0"/>
                    <a:pt x="0" y="59761"/>
                    <a:pt x="0" y="133481"/>
                  </a:cubicBezTo>
                  <a:cubicBezTo>
                    <a:pt x="0" y="207200"/>
                    <a:pt x="110970" y="266961"/>
                    <a:pt x="247860" y="266961"/>
                  </a:cubicBezTo>
                  <a:cubicBezTo>
                    <a:pt x="384749" y="266961"/>
                    <a:pt x="495719" y="207200"/>
                    <a:pt x="495719" y="133481"/>
                  </a:cubicBezTo>
                  <a:cubicBezTo>
                    <a:pt x="495719" y="59761"/>
                    <a:pt x="384749" y="0"/>
                    <a:pt x="247860" y="0"/>
                  </a:cubicBezTo>
                  <a:close/>
                </a:path>
              </a:pathLst>
            </a:custGeom>
            <a:solidFill>
              <a:srgbClr val="561269"/>
            </a:solidFill>
          </p:spPr>
        </p:sp>
        <p:sp>
          <p:nvSpPr>
            <p:cNvPr id="4" name="TextBox 4"/>
            <p:cNvSpPr txBox="1"/>
            <p:nvPr/>
          </p:nvSpPr>
          <p:spPr>
            <a:xfrm>
              <a:off x="46474" y="-22597"/>
              <a:ext cx="402772" cy="264531"/>
            </a:xfrm>
            <a:prstGeom prst="rect">
              <a:avLst/>
            </a:prstGeom>
          </p:spPr>
          <p:txBody>
            <a:bodyPr lIns="50800" tIns="50800" rIns="50800" bIns="50800" rtlCol="0" anchor="ctr"/>
            <a:lstStyle/>
            <a:p>
              <a:pPr algn="ctr">
                <a:lnSpc>
                  <a:spcPts val="3448"/>
                </a:lnSpc>
              </a:pPr>
              <a:endParaRPr/>
            </a:p>
          </p:txBody>
        </p:sp>
      </p:grpSp>
      <p:grpSp>
        <p:nvGrpSpPr>
          <p:cNvPr id="5" name="Group 5"/>
          <p:cNvGrpSpPr/>
          <p:nvPr/>
        </p:nvGrpSpPr>
        <p:grpSpPr>
          <a:xfrm>
            <a:off x="7110708" y="3072281"/>
            <a:ext cx="4066583" cy="1013619"/>
            <a:chOff x="0" y="0"/>
            <a:chExt cx="970625" cy="241934"/>
          </a:xfrm>
        </p:grpSpPr>
        <p:sp>
          <p:nvSpPr>
            <p:cNvPr id="6" name="Freeform 6"/>
            <p:cNvSpPr/>
            <p:nvPr/>
          </p:nvSpPr>
          <p:spPr>
            <a:xfrm>
              <a:off x="16751" y="0"/>
              <a:ext cx="937122" cy="241934"/>
            </a:xfrm>
            <a:custGeom>
              <a:avLst/>
              <a:gdLst/>
              <a:ahLst/>
              <a:cxnLst/>
              <a:rect l="l" t="t" r="r" b="b"/>
              <a:pathLst>
                <a:path w="937122" h="241934">
                  <a:moveTo>
                    <a:pt x="242767" y="0"/>
                  </a:moveTo>
                  <a:lnTo>
                    <a:pt x="924544" y="0"/>
                  </a:lnTo>
                  <a:cubicBezTo>
                    <a:pt x="929574" y="0"/>
                    <a:pt x="934121" y="2997"/>
                    <a:pt x="936104" y="7621"/>
                  </a:cubicBezTo>
                  <a:cubicBezTo>
                    <a:pt x="938087" y="12244"/>
                    <a:pt x="937124" y="17604"/>
                    <a:pt x="933656" y="21249"/>
                  </a:cubicBezTo>
                  <a:lnTo>
                    <a:pt x="743904" y="220685"/>
                  </a:lnTo>
                  <a:cubicBezTo>
                    <a:pt x="730994" y="234253"/>
                    <a:pt x="713085" y="241934"/>
                    <a:pt x="694356" y="241934"/>
                  </a:cubicBezTo>
                  <a:lnTo>
                    <a:pt x="12579" y="241934"/>
                  </a:lnTo>
                  <a:cubicBezTo>
                    <a:pt x="7549" y="241934"/>
                    <a:pt x="3002" y="238936"/>
                    <a:pt x="1019" y="234313"/>
                  </a:cubicBezTo>
                  <a:cubicBezTo>
                    <a:pt x="-964" y="229689"/>
                    <a:pt x="-1" y="224329"/>
                    <a:pt x="3466" y="220685"/>
                  </a:cubicBezTo>
                  <a:lnTo>
                    <a:pt x="193219" y="21249"/>
                  </a:lnTo>
                  <a:cubicBezTo>
                    <a:pt x="206129" y="7681"/>
                    <a:pt x="224038" y="0"/>
                    <a:pt x="242767" y="0"/>
                  </a:cubicBezTo>
                  <a:close/>
                </a:path>
              </a:pathLst>
            </a:custGeom>
            <a:solidFill>
              <a:srgbClr val="561269"/>
            </a:solidFill>
          </p:spPr>
        </p:sp>
        <p:sp>
          <p:nvSpPr>
            <p:cNvPr id="7" name="TextBox 7"/>
            <p:cNvSpPr txBox="1"/>
            <p:nvPr/>
          </p:nvSpPr>
          <p:spPr>
            <a:xfrm>
              <a:off x="254000" y="-47625"/>
              <a:ext cx="462625" cy="289559"/>
            </a:xfrm>
            <a:prstGeom prst="rect">
              <a:avLst/>
            </a:prstGeom>
          </p:spPr>
          <p:txBody>
            <a:bodyPr lIns="50800" tIns="50800" rIns="50800" bIns="50800" rtlCol="0" anchor="ctr"/>
            <a:lstStyle/>
            <a:p>
              <a:pPr algn="ctr">
                <a:lnSpc>
                  <a:spcPts val="3448"/>
                </a:lnSpc>
              </a:pPr>
              <a:endParaRPr/>
            </a:p>
          </p:txBody>
        </p:sp>
      </p:grpSp>
      <p:grpSp>
        <p:nvGrpSpPr>
          <p:cNvPr id="8" name="Group 8"/>
          <p:cNvGrpSpPr/>
          <p:nvPr/>
        </p:nvGrpSpPr>
        <p:grpSpPr>
          <a:xfrm>
            <a:off x="7110708" y="4428800"/>
            <a:ext cx="4066583" cy="1013619"/>
            <a:chOff x="0" y="0"/>
            <a:chExt cx="970625" cy="241934"/>
          </a:xfrm>
        </p:grpSpPr>
        <p:sp>
          <p:nvSpPr>
            <p:cNvPr id="9" name="Freeform 9"/>
            <p:cNvSpPr/>
            <p:nvPr/>
          </p:nvSpPr>
          <p:spPr>
            <a:xfrm>
              <a:off x="16751" y="0"/>
              <a:ext cx="937122" cy="241934"/>
            </a:xfrm>
            <a:custGeom>
              <a:avLst/>
              <a:gdLst/>
              <a:ahLst/>
              <a:cxnLst/>
              <a:rect l="l" t="t" r="r" b="b"/>
              <a:pathLst>
                <a:path w="937122" h="241934">
                  <a:moveTo>
                    <a:pt x="242767" y="0"/>
                  </a:moveTo>
                  <a:lnTo>
                    <a:pt x="924544" y="0"/>
                  </a:lnTo>
                  <a:cubicBezTo>
                    <a:pt x="929574" y="0"/>
                    <a:pt x="934121" y="2997"/>
                    <a:pt x="936104" y="7621"/>
                  </a:cubicBezTo>
                  <a:cubicBezTo>
                    <a:pt x="938087" y="12244"/>
                    <a:pt x="937124" y="17604"/>
                    <a:pt x="933656" y="21249"/>
                  </a:cubicBezTo>
                  <a:lnTo>
                    <a:pt x="743904" y="220685"/>
                  </a:lnTo>
                  <a:cubicBezTo>
                    <a:pt x="730994" y="234253"/>
                    <a:pt x="713085" y="241934"/>
                    <a:pt x="694356" y="241934"/>
                  </a:cubicBezTo>
                  <a:lnTo>
                    <a:pt x="12579" y="241934"/>
                  </a:lnTo>
                  <a:cubicBezTo>
                    <a:pt x="7549" y="241934"/>
                    <a:pt x="3002" y="238936"/>
                    <a:pt x="1019" y="234313"/>
                  </a:cubicBezTo>
                  <a:cubicBezTo>
                    <a:pt x="-964" y="229689"/>
                    <a:pt x="-1" y="224329"/>
                    <a:pt x="3466" y="220685"/>
                  </a:cubicBezTo>
                  <a:lnTo>
                    <a:pt x="193219" y="21249"/>
                  </a:lnTo>
                  <a:cubicBezTo>
                    <a:pt x="206129" y="7681"/>
                    <a:pt x="224038" y="0"/>
                    <a:pt x="242767" y="0"/>
                  </a:cubicBezTo>
                  <a:close/>
                </a:path>
              </a:pathLst>
            </a:custGeom>
            <a:solidFill>
              <a:srgbClr val="561269"/>
            </a:solidFill>
          </p:spPr>
        </p:sp>
        <p:sp>
          <p:nvSpPr>
            <p:cNvPr id="10" name="TextBox 10"/>
            <p:cNvSpPr txBox="1"/>
            <p:nvPr/>
          </p:nvSpPr>
          <p:spPr>
            <a:xfrm>
              <a:off x="254000" y="-47625"/>
              <a:ext cx="462625" cy="289559"/>
            </a:xfrm>
            <a:prstGeom prst="rect">
              <a:avLst/>
            </a:prstGeom>
          </p:spPr>
          <p:txBody>
            <a:bodyPr lIns="50800" tIns="50800" rIns="50800" bIns="50800" rtlCol="0" anchor="ctr"/>
            <a:lstStyle/>
            <a:p>
              <a:pPr algn="ctr">
                <a:lnSpc>
                  <a:spcPts val="3448"/>
                </a:lnSpc>
              </a:pPr>
              <a:endParaRPr/>
            </a:p>
          </p:txBody>
        </p:sp>
      </p:grpSp>
      <p:sp>
        <p:nvSpPr>
          <p:cNvPr id="11" name="AutoShape 11"/>
          <p:cNvSpPr/>
          <p:nvPr/>
        </p:nvSpPr>
        <p:spPr>
          <a:xfrm flipV="1">
            <a:off x="9811392" y="6263661"/>
            <a:ext cx="1051435" cy="18841"/>
          </a:xfrm>
          <a:prstGeom prst="line">
            <a:avLst/>
          </a:prstGeom>
          <a:ln w="38100" cap="flat">
            <a:solidFill>
              <a:srgbClr val="00BF63"/>
            </a:solidFill>
            <a:prstDash val="solid"/>
            <a:headEnd type="none" w="sm" len="sm"/>
            <a:tailEnd type="none" w="sm" len="sm"/>
          </a:ln>
        </p:spPr>
      </p:sp>
      <p:sp>
        <p:nvSpPr>
          <p:cNvPr id="12" name="AutoShape 12"/>
          <p:cNvSpPr/>
          <p:nvPr/>
        </p:nvSpPr>
        <p:spPr>
          <a:xfrm flipV="1">
            <a:off x="7283154" y="6282707"/>
            <a:ext cx="731143" cy="18841"/>
          </a:xfrm>
          <a:prstGeom prst="line">
            <a:avLst/>
          </a:prstGeom>
          <a:ln w="38100" cap="flat">
            <a:solidFill>
              <a:srgbClr val="FF3131"/>
            </a:solidFill>
            <a:prstDash val="solid"/>
            <a:headEnd type="none" w="sm" len="sm"/>
            <a:tailEnd type="none" w="sm" len="sm"/>
          </a:ln>
        </p:spPr>
      </p:sp>
      <p:grpSp>
        <p:nvGrpSpPr>
          <p:cNvPr id="13" name="Group 13"/>
          <p:cNvGrpSpPr/>
          <p:nvPr/>
        </p:nvGrpSpPr>
        <p:grpSpPr>
          <a:xfrm>
            <a:off x="7600950" y="5785318"/>
            <a:ext cx="3086100" cy="1013619"/>
            <a:chOff x="0" y="0"/>
            <a:chExt cx="647700" cy="212735"/>
          </a:xfrm>
        </p:grpSpPr>
        <p:sp>
          <p:nvSpPr>
            <p:cNvPr id="14" name="Freeform 14"/>
            <p:cNvSpPr/>
            <p:nvPr/>
          </p:nvSpPr>
          <p:spPr>
            <a:xfrm>
              <a:off x="28951" y="6398"/>
              <a:ext cx="589798" cy="199939"/>
            </a:xfrm>
            <a:custGeom>
              <a:avLst/>
              <a:gdLst/>
              <a:ahLst/>
              <a:cxnLst/>
              <a:rect l="l" t="t" r="r" b="b"/>
              <a:pathLst>
                <a:path w="589798" h="199939">
                  <a:moveTo>
                    <a:pt x="332884" y="6078"/>
                  </a:moveTo>
                  <a:lnTo>
                    <a:pt x="580764" y="87493"/>
                  </a:lnTo>
                  <a:cubicBezTo>
                    <a:pt x="586154" y="89264"/>
                    <a:pt x="589798" y="94296"/>
                    <a:pt x="589798" y="99969"/>
                  </a:cubicBezTo>
                  <a:cubicBezTo>
                    <a:pt x="589798" y="105643"/>
                    <a:pt x="586154" y="110675"/>
                    <a:pt x="580764" y="112445"/>
                  </a:cubicBezTo>
                  <a:lnTo>
                    <a:pt x="332884" y="193861"/>
                  </a:lnTo>
                  <a:cubicBezTo>
                    <a:pt x="308209" y="201965"/>
                    <a:pt x="281589" y="201965"/>
                    <a:pt x="256914" y="193861"/>
                  </a:cubicBezTo>
                  <a:lnTo>
                    <a:pt x="9034" y="112445"/>
                  </a:lnTo>
                  <a:cubicBezTo>
                    <a:pt x="3644" y="110675"/>
                    <a:pt x="0" y="105643"/>
                    <a:pt x="0" y="99969"/>
                  </a:cubicBezTo>
                  <a:cubicBezTo>
                    <a:pt x="0" y="94296"/>
                    <a:pt x="3644" y="89264"/>
                    <a:pt x="9034" y="87493"/>
                  </a:cubicBezTo>
                  <a:lnTo>
                    <a:pt x="256914" y="6078"/>
                  </a:lnTo>
                  <a:cubicBezTo>
                    <a:pt x="281589" y="-2026"/>
                    <a:pt x="308209" y="-2026"/>
                    <a:pt x="332884" y="6078"/>
                  </a:cubicBezTo>
                  <a:close/>
                </a:path>
              </a:pathLst>
            </a:custGeom>
            <a:solidFill>
              <a:srgbClr val="561269"/>
            </a:solidFill>
          </p:spPr>
        </p:sp>
        <p:sp>
          <p:nvSpPr>
            <p:cNvPr id="15" name="TextBox 15"/>
            <p:cNvSpPr txBox="1"/>
            <p:nvPr/>
          </p:nvSpPr>
          <p:spPr>
            <a:xfrm>
              <a:off x="152400" y="-927"/>
              <a:ext cx="342900" cy="166964"/>
            </a:xfrm>
            <a:prstGeom prst="rect">
              <a:avLst/>
            </a:prstGeom>
          </p:spPr>
          <p:txBody>
            <a:bodyPr lIns="50800" tIns="50800" rIns="50800" bIns="50800" rtlCol="0" anchor="ctr"/>
            <a:lstStyle/>
            <a:p>
              <a:pPr algn="ctr">
                <a:lnSpc>
                  <a:spcPts val="3448"/>
                </a:lnSpc>
              </a:pPr>
              <a:endParaRPr/>
            </a:p>
          </p:txBody>
        </p:sp>
      </p:grpSp>
      <p:sp>
        <p:nvSpPr>
          <p:cNvPr id="16" name="TextBox 16"/>
          <p:cNvSpPr txBox="1"/>
          <p:nvPr/>
        </p:nvSpPr>
        <p:spPr>
          <a:xfrm>
            <a:off x="8014297" y="4516860"/>
            <a:ext cx="2386218" cy="754108"/>
          </a:xfrm>
          <a:prstGeom prst="rect">
            <a:avLst/>
          </a:prstGeom>
        </p:spPr>
        <p:txBody>
          <a:bodyPr lIns="0" tIns="0" rIns="0" bIns="0" rtlCol="0" anchor="t">
            <a:spAutoFit/>
          </a:bodyPr>
          <a:lstStyle/>
          <a:p>
            <a:pPr algn="ctr">
              <a:lnSpc>
                <a:spcPts val="3059"/>
              </a:lnSpc>
              <a:spcBef>
                <a:spcPct val="0"/>
              </a:spcBef>
            </a:pPr>
            <a:r>
              <a:rPr lang="en-US" sz="2185" b="1">
                <a:solidFill>
                  <a:srgbClr val="EDCBF6"/>
                </a:solidFill>
                <a:latin typeface="DM Sans Bold"/>
                <a:ea typeface="DM Sans Bold"/>
                <a:cs typeface="DM Sans Bold"/>
                <a:sym typeface="DM Sans Bold"/>
              </a:rPr>
              <a:t>Check health parameters</a:t>
            </a:r>
          </a:p>
        </p:txBody>
      </p:sp>
      <p:sp>
        <p:nvSpPr>
          <p:cNvPr id="17" name="AutoShape 17"/>
          <p:cNvSpPr/>
          <p:nvPr/>
        </p:nvSpPr>
        <p:spPr>
          <a:xfrm flipV="1">
            <a:off x="15523197" y="6263664"/>
            <a:ext cx="731143" cy="18841"/>
          </a:xfrm>
          <a:prstGeom prst="line">
            <a:avLst/>
          </a:prstGeom>
          <a:ln w="38100" cap="flat">
            <a:solidFill>
              <a:srgbClr val="00BF63"/>
            </a:solidFill>
            <a:prstDash val="solid"/>
            <a:headEnd type="none" w="sm" len="sm"/>
            <a:tailEnd type="none" w="sm" len="sm"/>
          </a:ln>
        </p:spPr>
      </p:sp>
      <p:grpSp>
        <p:nvGrpSpPr>
          <p:cNvPr id="18" name="Group 18"/>
          <p:cNvGrpSpPr/>
          <p:nvPr/>
        </p:nvGrpSpPr>
        <p:grpSpPr>
          <a:xfrm>
            <a:off x="12802668" y="5785318"/>
            <a:ext cx="3086100" cy="1013619"/>
            <a:chOff x="0" y="0"/>
            <a:chExt cx="647700" cy="212735"/>
          </a:xfrm>
        </p:grpSpPr>
        <p:sp>
          <p:nvSpPr>
            <p:cNvPr id="19" name="Freeform 19"/>
            <p:cNvSpPr/>
            <p:nvPr/>
          </p:nvSpPr>
          <p:spPr>
            <a:xfrm>
              <a:off x="28951" y="6398"/>
              <a:ext cx="589798" cy="199939"/>
            </a:xfrm>
            <a:custGeom>
              <a:avLst/>
              <a:gdLst/>
              <a:ahLst/>
              <a:cxnLst/>
              <a:rect l="l" t="t" r="r" b="b"/>
              <a:pathLst>
                <a:path w="589798" h="199939">
                  <a:moveTo>
                    <a:pt x="332884" y="6078"/>
                  </a:moveTo>
                  <a:lnTo>
                    <a:pt x="580764" y="87493"/>
                  </a:lnTo>
                  <a:cubicBezTo>
                    <a:pt x="586154" y="89264"/>
                    <a:pt x="589798" y="94296"/>
                    <a:pt x="589798" y="99969"/>
                  </a:cubicBezTo>
                  <a:cubicBezTo>
                    <a:pt x="589798" y="105643"/>
                    <a:pt x="586154" y="110675"/>
                    <a:pt x="580764" y="112445"/>
                  </a:cubicBezTo>
                  <a:lnTo>
                    <a:pt x="332884" y="193861"/>
                  </a:lnTo>
                  <a:cubicBezTo>
                    <a:pt x="308209" y="201965"/>
                    <a:pt x="281589" y="201965"/>
                    <a:pt x="256914" y="193861"/>
                  </a:cubicBezTo>
                  <a:lnTo>
                    <a:pt x="9034" y="112445"/>
                  </a:lnTo>
                  <a:cubicBezTo>
                    <a:pt x="3644" y="110675"/>
                    <a:pt x="0" y="105643"/>
                    <a:pt x="0" y="99969"/>
                  </a:cubicBezTo>
                  <a:cubicBezTo>
                    <a:pt x="0" y="94296"/>
                    <a:pt x="3644" y="89264"/>
                    <a:pt x="9034" y="87493"/>
                  </a:cubicBezTo>
                  <a:lnTo>
                    <a:pt x="256914" y="6078"/>
                  </a:lnTo>
                  <a:cubicBezTo>
                    <a:pt x="281589" y="-2026"/>
                    <a:pt x="308209" y="-2026"/>
                    <a:pt x="332884" y="6078"/>
                  </a:cubicBezTo>
                  <a:close/>
                </a:path>
              </a:pathLst>
            </a:custGeom>
            <a:solidFill>
              <a:srgbClr val="561269"/>
            </a:solidFill>
          </p:spPr>
        </p:sp>
        <p:sp>
          <p:nvSpPr>
            <p:cNvPr id="20" name="TextBox 20"/>
            <p:cNvSpPr txBox="1"/>
            <p:nvPr/>
          </p:nvSpPr>
          <p:spPr>
            <a:xfrm>
              <a:off x="152400" y="-927"/>
              <a:ext cx="342900" cy="166964"/>
            </a:xfrm>
            <a:prstGeom prst="rect">
              <a:avLst/>
            </a:prstGeom>
          </p:spPr>
          <p:txBody>
            <a:bodyPr lIns="50800" tIns="50800" rIns="50800" bIns="50800" rtlCol="0" anchor="ctr"/>
            <a:lstStyle/>
            <a:p>
              <a:pPr algn="ctr">
                <a:lnSpc>
                  <a:spcPts val="3448"/>
                </a:lnSpc>
              </a:pPr>
              <a:endParaRPr/>
            </a:p>
          </p:txBody>
        </p:sp>
      </p:grpSp>
      <p:sp>
        <p:nvSpPr>
          <p:cNvPr id="21" name="AutoShape 21"/>
          <p:cNvSpPr/>
          <p:nvPr/>
        </p:nvSpPr>
        <p:spPr>
          <a:xfrm flipV="1">
            <a:off x="5286803" y="6282707"/>
            <a:ext cx="731143" cy="18841"/>
          </a:xfrm>
          <a:prstGeom prst="line">
            <a:avLst/>
          </a:prstGeom>
          <a:ln w="38100" cap="flat">
            <a:solidFill>
              <a:srgbClr val="00BF63"/>
            </a:solidFill>
            <a:prstDash val="solid"/>
            <a:headEnd type="none" w="sm" len="sm"/>
            <a:tailEnd type="none" w="sm" len="sm"/>
          </a:ln>
        </p:spPr>
      </p:sp>
      <p:grpSp>
        <p:nvGrpSpPr>
          <p:cNvPr id="22" name="Group 22"/>
          <p:cNvGrpSpPr/>
          <p:nvPr/>
        </p:nvGrpSpPr>
        <p:grpSpPr>
          <a:xfrm>
            <a:off x="2399232" y="5785318"/>
            <a:ext cx="3087168" cy="1013619"/>
            <a:chOff x="0" y="0"/>
            <a:chExt cx="647924" cy="212735"/>
          </a:xfrm>
        </p:grpSpPr>
        <p:sp>
          <p:nvSpPr>
            <p:cNvPr id="23" name="Freeform 23"/>
            <p:cNvSpPr/>
            <p:nvPr/>
          </p:nvSpPr>
          <p:spPr>
            <a:xfrm>
              <a:off x="28944" y="6393"/>
              <a:ext cx="590036" cy="199948"/>
            </a:xfrm>
            <a:custGeom>
              <a:avLst/>
              <a:gdLst/>
              <a:ahLst/>
              <a:cxnLst/>
              <a:rect l="l" t="t" r="r" b="b"/>
              <a:pathLst>
                <a:path w="590036" h="199948">
                  <a:moveTo>
                    <a:pt x="332991" y="6075"/>
                  </a:moveTo>
                  <a:lnTo>
                    <a:pt x="581007" y="87507"/>
                  </a:lnTo>
                  <a:cubicBezTo>
                    <a:pt x="586394" y="89275"/>
                    <a:pt x="590036" y="94304"/>
                    <a:pt x="590036" y="99974"/>
                  </a:cubicBezTo>
                  <a:cubicBezTo>
                    <a:pt x="590036" y="105645"/>
                    <a:pt x="586394" y="110673"/>
                    <a:pt x="581007" y="112442"/>
                  </a:cubicBezTo>
                  <a:lnTo>
                    <a:pt x="332991" y="193874"/>
                  </a:lnTo>
                  <a:cubicBezTo>
                    <a:pt x="308324" y="201973"/>
                    <a:pt x="281713" y="201973"/>
                    <a:pt x="257045" y="193874"/>
                  </a:cubicBezTo>
                  <a:lnTo>
                    <a:pt x="9029" y="112442"/>
                  </a:lnTo>
                  <a:cubicBezTo>
                    <a:pt x="3642" y="110673"/>
                    <a:pt x="0" y="105645"/>
                    <a:pt x="0" y="99974"/>
                  </a:cubicBezTo>
                  <a:cubicBezTo>
                    <a:pt x="0" y="94304"/>
                    <a:pt x="3642" y="89275"/>
                    <a:pt x="9029" y="87507"/>
                  </a:cubicBezTo>
                  <a:lnTo>
                    <a:pt x="257045" y="6075"/>
                  </a:lnTo>
                  <a:cubicBezTo>
                    <a:pt x="281713" y="-2024"/>
                    <a:pt x="308324" y="-2024"/>
                    <a:pt x="332991" y="6075"/>
                  </a:cubicBezTo>
                  <a:close/>
                </a:path>
              </a:pathLst>
            </a:custGeom>
            <a:solidFill>
              <a:srgbClr val="561269"/>
            </a:solidFill>
          </p:spPr>
        </p:sp>
        <p:sp>
          <p:nvSpPr>
            <p:cNvPr id="24" name="TextBox 24"/>
            <p:cNvSpPr txBox="1"/>
            <p:nvPr/>
          </p:nvSpPr>
          <p:spPr>
            <a:xfrm>
              <a:off x="152453" y="-927"/>
              <a:ext cx="343019" cy="166964"/>
            </a:xfrm>
            <a:prstGeom prst="rect">
              <a:avLst/>
            </a:prstGeom>
          </p:spPr>
          <p:txBody>
            <a:bodyPr lIns="50800" tIns="50800" rIns="50800" bIns="50800" rtlCol="0" anchor="ctr"/>
            <a:lstStyle/>
            <a:p>
              <a:pPr algn="ctr">
                <a:lnSpc>
                  <a:spcPts val="3448"/>
                </a:lnSpc>
              </a:pPr>
              <a:endParaRPr/>
            </a:p>
          </p:txBody>
        </p:sp>
      </p:grpSp>
      <p:sp>
        <p:nvSpPr>
          <p:cNvPr id="25" name="AutoShape 25"/>
          <p:cNvSpPr/>
          <p:nvPr/>
        </p:nvSpPr>
        <p:spPr>
          <a:xfrm>
            <a:off x="3942816" y="5613868"/>
            <a:ext cx="10402902" cy="0"/>
          </a:xfrm>
          <a:prstGeom prst="line">
            <a:avLst/>
          </a:prstGeom>
          <a:ln w="38100" cap="flat">
            <a:solidFill>
              <a:srgbClr val="FFFFFF"/>
            </a:solidFill>
            <a:prstDash val="solid"/>
            <a:headEnd type="none" w="sm" len="sm"/>
            <a:tailEnd type="none" w="sm" len="sm"/>
          </a:ln>
        </p:spPr>
      </p:sp>
      <p:sp>
        <p:nvSpPr>
          <p:cNvPr id="26" name="AutoShape 26"/>
          <p:cNvSpPr/>
          <p:nvPr/>
        </p:nvSpPr>
        <p:spPr>
          <a:xfrm>
            <a:off x="3961866" y="5613868"/>
            <a:ext cx="0" cy="331318"/>
          </a:xfrm>
          <a:prstGeom prst="line">
            <a:avLst/>
          </a:prstGeom>
          <a:ln w="38100" cap="flat">
            <a:solidFill>
              <a:srgbClr val="FFFFFF"/>
            </a:solidFill>
            <a:prstDash val="solid"/>
            <a:headEnd type="none" w="sm" len="sm"/>
            <a:tailEnd type="arrow" w="med" len="sm"/>
          </a:ln>
        </p:spPr>
      </p:sp>
      <p:sp>
        <p:nvSpPr>
          <p:cNvPr id="27" name="AutoShape 27"/>
          <p:cNvSpPr/>
          <p:nvPr/>
        </p:nvSpPr>
        <p:spPr>
          <a:xfrm>
            <a:off x="9163050" y="5613868"/>
            <a:ext cx="0" cy="331318"/>
          </a:xfrm>
          <a:prstGeom prst="line">
            <a:avLst/>
          </a:prstGeom>
          <a:ln w="38100" cap="flat">
            <a:solidFill>
              <a:srgbClr val="FFFFFF"/>
            </a:solidFill>
            <a:prstDash val="solid"/>
            <a:headEnd type="none" w="sm" len="sm"/>
            <a:tailEnd type="arrow" w="med" len="sm"/>
          </a:ln>
        </p:spPr>
      </p:sp>
      <p:sp>
        <p:nvSpPr>
          <p:cNvPr id="28" name="AutoShape 28"/>
          <p:cNvSpPr/>
          <p:nvPr/>
        </p:nvSpPr>
        <p:spPr>
          <a:xfrm>
            <a:off x="14364234" y="5613868"/>
            <a:ext cx="0" cy="331318"/>
          </a:xfrm>
          <a:prstGeom prst="line">
            <a:avLst/>
          </a:prstGeom>
          <a:ln w="38100" cap="flat">
            <a:solidFill>
              <a:srgbClr val="FFFFFF"/>
            </a:solidFill>
            <a:prstDash val="solid"/>
            <a:headEnd type="none" w="sm" len="sm"/>
            <a:tailEnd type="arrow" w="med" len="sm"/>
          </a:ln>
        </p:spPr>
      </p:sp>
      <p:sp>
        <p:nvSpPr>
          <p:cNvPr id="29" name="AutoShape 29"/>
          <p:cNvSpPr/>
          <p:nvPr/>
        </p:nvSpPr>
        <p:spPr>
          <a:xfrm>
            <a:off x="9159984" y="5442752"/>
            <a:ext cx="6131" cy="350105"/>
          </a:xfrm>
          <a:prstGeom prst="line">
            <a:avLst/>
          </a:prstGeom>
          <a:ln w="38100" cap="flat">
            <a:solidFill>
              <a:srgbClr val="FFFFFF"/>
            </a:solidFill>
            <a:prstDash val="solid"/>
            <a:headEnd type="none" w="sm" len="sm"/>
            <a:tailEnd type="none" w="sm" len="sm"/>
          </a:ln>
        </p:spPr>
      </p:sp>
      <p:sp>
        <p:nvSpPr>
          <p:cNvPr id="30" name="AutoShape 30"/>
          <p:cNvSpPr/>
          <p:nvPr/>
        </p:nvSpPr>
        <p:spPr>
          <a:xfrm>
            <a:off x="9163050" y="4098649"/>
            <a:ext cx="0" cy="331318"/>
          </a:xfrm>
          <a:prstGeom prst="line">
            <a:avLst/>
          </a:prstGeom>
          <a:ln w="38100" cap="flat">
            <a:solidFill>
              <a:srgbClr val="FFFFFF"/>
            </a:solidFill>
            <a:prstDash val="solid"/>
            <a:headEnd type="none" w="sm" len="sm"/>
            <a:tailEnd type="arrow" w="med" len="sm"/>
          </a:ln>
        </p:spPr>
      </p:sp>
      <p:sp>
        <p:nvSpPr>
          <p:cNvPr id="31" name="AutoShape 31"/>
          <p:cNvSpPr/>
          <p:nvPr/>
        </p:nvSpPr>
        <p:spPr>
          <a:xfrm>
            <a:off x="9144000" y="2780231"/>
            <a:ext cx="0" cy="331318"/>
          </a:xfrm>
          <a:prstGeom prst="line">
            <a:avLst/>
          </a:prstGeom>
          <a:ln w="38100" cap="flat">
            <a:solidFill>
              <a:srgbClr val="FFFFFF"/>
            </a:solidFill>
            <a:prstDash val="solid"/>
            <a:headEnd type="none" w="sm" len="sm"/>
            <a:tailEnd type="arrow" w="med" len="sm"/>
          </a:ln>
        </p:spPr>
      </p:sp>
      <p:grpSp>
        <p:nvGrpSpPr>
          <p:cNvPr id="32" name="Group 32"/>
          <p:cNvGrpSpPr/>
          <p:nvPr/>
        </p:nvGrpSpPr>
        <p:grpSpPr>
          <a:xfrm>
            <a:off x="1002922" y="7240315"/>
            <a:ext cx="3086100" cy="2036826"/>
            <a:chOff x="0" y="0"/>
            <a:chExt cx="635000" cy="419100"/>
          </a:xfrm>
        </p:grpSpPr>
        <p:sp>
          <p:nvSpPr>
            <p:cNvPr id="33" name="Freeform 33"/>
            <p:cNvSpPr/>
            <p:nvPr/>
          </p:nvSpPr>
          <p:spPr>
            <a:xfrm>
              <a:off x="0" y="0"/>
              <a:ext cx="635000" cy="419100"/>
            </a:xfrm>
            <a:custGeom>
              <a:avLst/>
              <a:gdLst/>
              <a:ahLst/>
              <a:cxnLst/>
              <a:rect l="l" t="t" r="r" b="b"/>
              <a:pathLst>
                <a:path w="635000" h="4191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561269"/>
            </a:solidFill>
          </p:spPr>
        </p:sp>
        <p:sp>
          <p:nvSpPr>
            <p:cNvPr id="34" name="TextBox 34"/>
            <p:cNvSpPr txBox="1"/>
            <p:nvPr/>
          </p:nvSpPr>
          <p:spPr>
            <a:xfrm>
              <a:off x="0" y="-47625"/>
              <a:ext cx="635000" cy="466725"/>
            </a:xfrm>
            <a:prstGeom prst="rect">
              <a:avLst/>
            </a:prstGeom>
          </p:spPr>
          <p:txBody>
            <a:bodyPr lIns="50800" tIns="50800" rIns="50800" bIns="50800" rtlCol="0" anchor="ctr"/>
            <a:lstStyle/>
            <a:p>
              <a:pPr algn="ctr">
                <a:lnSpc>
                  <a:spcPts val="3448"/>
                </a:lnSpc>
              </a:pPr>
              <a:endParaRPr/>
            </a:p>
          </p:txBody>
        </p:sp>
      </p:grpSp>
      <p:sp>
        <p:nvSpPr>
          <p:cNvPr id="35" name="TextBox 35"/>
          <p:cNvSpPr txBox="1"/>
          <p:nvPr/>
        </p:nvSpPr>
        <p:spPr>
          <a:xfrm>
            <a:off x="3210293" y="627387"/>
            <a:ext cx="11867415" cy="1088375"/>
          </a:xfrm>
          <a:prstGeom prst="rect">
            <a:avLst/>
          </a:prstGeom>
        </p:spPr>
        <p:txBody>
          <a:bodyPr lIns="0" tIns="0" rIns="0" bIns="0" rtlCol="0" anchor="t">
            <a:spAutoFit/>
          </a:bodyPr>
          <a:lstStyle/>
          <a:p>
            <a:pPr algn="l">
              <a:lnSpc>
                <a:spcPts val="4884"/>
              </a:lnSpc>
            </a:pPr>
            <a:r>
              <a:rPr lang="en-US" sz="6522" b="1" dirty="0">
                <a:solidFill>
                  <a:srgbClr val="2B0934"/>
                </a:solidFill>
                <a:latin typeface="Montserrat Bold"/>
                <a:ea typeface="Montserrat Bold"/>
                <a:cs typeface="Montserrat Bold"/>
                <a:sym typeface="Montserrat Bold"/>
              </a:rPr>
              <a:t>  PROTOTYPE WORKFLOW </a:t>
            </a:r>
          </a:p>
          <a:p>
            <a:pPr algn="ctr">
              <a:lnSpc>
                <a:spcPts val="6007"/>
              </a:lnSpc>
            </a:pPr>
            <a:endParaRPr lang="en-US" sz="6522" b="1" dirty="0">
              <a:solidFill>
                <a:srgbClr val="2B0934"/>
              </a:solidFill>
              <a:latin typeface="Montserrat Bold"/>
              <a:ea typeface="Montserrat Bold"/>
              <a:cs typeface="Montserrat Bold"/>
              <a:sym typeface="Montserrat Bold"/>
            </a:endParaRPr>
          </a:p>
        </p:txBody>
      </p:sp>
      <p:sp>
        <p:nvSpPr>
          <p:cNvPr id="36" name="TextBox 36"/>
          <p:cNvSpPr txBox="1"/>
          <p:nvPr/>
        </p:nvSpPr>
        <p:spPr>
          <a:xfrm>
            <a:off x="8308865" y="2012205"/>
            <a:ext cx="1670270" cy="373108"/>
          </a:xfrm>
          <a:prstGeom prst="rect">
            <a:avLst/>
          </a:prstGeom>
        </p:spPr>
        <p:txBody>
          <a:bodyPr lIns="0" tIns="0" rIns="0" bIns="0" rtlCol="0" anchor="t">
            <a:spAutoFit/>
          </a:bodyPr>
          <a:lstStyle/>
          <a:p>
            <a:pPr algn="ctr">
              <a:lnSpc>
                <a:spcPts val="3059"/>
              </a:lnSpc>
              <a:spcBef>
                <a:spcPct val="0"/>
              </a:spcBef>
            </a:pPr>
            <a:r>
              <a:rPr lang="en-US" sz="2185" b="1">
                <a:solidFill>
                  <a:srgbClr val="EDCBF6"/>
                </a:solidFill>
                <a:latin typeface="DM Sans Bold"/>
                <a:ea typeface="DM Sans Bold"/>
                <a:cs typeface="DM Sans Bold"/>
                <a:sym typeface="DM Sans Bold"/>
              </a:rPr>
              <a:t>START</a:t>
            </a:r>
          </a:p>
        </p:txBody>
      </p:sp>
      <p:sp>
        <p:nvSpPr>
          <p:cNvPr id="37" name="TextBox 37"/>
          <p:cNvSpPr txBox="1"/>
          <p:nvPr/>
        </p:nvSpPr>
        <p:spPr>
          <a:xfrm>
            <a:off x="7950891" y="3368724"/>
            <a:ext cx="2386218" cy="373108"/>
          </a:xfrm>
          <a:prstGeom prst="rect">
            <a:avLst/>
          </a:prstGeom>
        </p:spPr>
        <p:txBody>
          <a:bodyPr lIns="0" tIns="0" rIns="0" bIns="0" rtlCol="0" anchor="t">
            <a:spAutoFit/>
          </a:bodyPr>
          <a:lstStyle/>
          <a:p>
            <a:pPr algn="ctr">
              <a:lnSpc>
                <a:spcPts val="3059"/>
              </a:lnSpc>
              <a:spcBef>
                <a:spcPct val="0"/>
              </a:spcBef>
            </a:pPr>
            <a:r>
              <a:rPr lang="en-US" sz="2185" b="1">
                <a:solidFill>
                  <a:srgbClr val="EDCBF6"/>
                </a:solidFill>
                <a:latin typeface="DM Sans Bold"/>
                <a:ea typeface="DM Sans Bold"/>
                <a:cs typeface="DM Sans Bold"/>
                <a:sym typeface="DM Sans Bold"/>
              </a:rPr>
              <a:t>Initialize sensors</a:t>
            </a:r>
          </a:p>
        </p:txBody>
      </p:sp>
      <p:sp>
        <p:nvSpPr>
          <p:cNvPr id="38" name="AutoShape 38"/>
          <p:cNvSpPr/>
          <p:nvPr/>
        </p:nvSpPr>
        <p:spPr>
          <a:xfrm flipH="1">
            <a:off x="5998896" y="6282522"/>
            <a:ext cx="0" cy="1995468"/>
          </a:xfrm>
          <a:prstGeom prst="line">
            <a:avLst/>
          </a:prstGeom>
          <a:ln w="38100" cap="flat">
            <a:solidFill>
              <a:srgbClr val="00BF63"/>
            </a:solidFill>
            <a:prstDash val="solid"/>
            <a:headEnd type="none" w="sm" len="sm"/>
            <a:tailEnd type="none" w="sm" len="sm"/>
          </a:ln>
        </p:spPr>
      </p:sp>
      <p:sp>
        <p:nvSpPr>
          <p:cNvPr id="39" name="AutoShape 39"/>
          <p:cNvSpPr/>
          <p:nvPr/>
        </p:nvSpPr>
        <p:spPr>
          <a:xfrm>
            <a:off x="10862827" y="6263661"/>
            <a:ext cx="0" cy="1805173"/>
          </a:xfrm>
          <a:prstGeom prst="line">
            <a:avLst/>
          </a:prstGeom>
          <a:ln w="38100" cap="flat">
            <a:solidFill>
              <a:srgbClr val="00BF63"/>
            </a:solidFill>
            <a:prstDash val="solid"/>
            <a:headEnd type="none" w="sm" len="sm"/>
            <a:tailEnd type="none" w="sm" len="sm"/>
          </a:ln>
        </p:spPr>
      </p:sp>
      <p:sp>
        <p:nvSpPr>
          <p:cNvPr id="40" name="AutoShape 40"/>
          <p:cNvSpPr/>
          <p:nvPr/>
        </p:nvSpPr>
        <p:spPr>
          <a:xfrm>
            <a:off x="16235290" y="6263664"/>
            <a:ext cx="0" cy="1976223"/>
          </a:xfrm>
          <a:prstGeom prst="line">
            <a:avLst/>
          </a:prstGeom>
          <a:ln w="38100" cap="flat">
            <a:solidFill>
              <a:srgbClr val="00BF63"/>
            </a:solidFill>
            <a:prstDash val="solid"/>
            <a:headEnd type="none" w="sm" len="sm"/>
            <a:tailEnd type="none" w="sm" len="sm"/>
          </a:ln>
        </p:spPr>
      </p:sp>
      <p:sp>
        <p:nvSpPr>
          <p:cNvPr id="41" name="AutoShape 41"/>
          <p:cNvSpPr/>
          <p:nvPr/>
        </p:nvSpPr>
        <p:spPr>
          <a:xfrm flipV="1">
            <a:off x="12388126" y="8258940"/>
            <a:ext cx="3847164" cy="0"/>
          </a:xfrm>
          <a:prstGeom prst="line">
            <a:avLst/>
          </a:prstGeom>
          <a:ln w="38100" cap="flat">
            <a:solidFill>
              <a:srgbClr val="00BF63"/>
            </a:solidFill>
            <a:prstDash val="solid"/>
            <a:headEnd type="none" w="sm" len="sm"/>
            <a:tailEnd type="none" w="sm" len="sm"/>
          </a:ln>
        </p:spPr>
      </p:sp>
      <p:sp>
        <p:nvSpPr>
          <p:cNvPr id="42" name="AutoShape 42"/>
          <p:cNvSpPr/>
          <p:nvPr/>
        </p:nvSpPr>
        <p:spPr>
          <a:xfrm flipV="1">
            <a:off x="5998896" y="8277990"/>
            <a:ext cx="3847164" cy="0"/>
          </a:xfrm>
          <a:prstGeom prst="line">
            <a:avLst/>
          </a:prstGeom>
          <a:ln w="38100" cap="flat">
            <a:solidFill>
              <a:srgbClr val="00BF63"/>
            </a:solidFill>
            <a:prstDash val="solid"/>
            <a:headEnd type="none" w="sm" len="sm"/>
            <a:tailEnd type="none" w="sm" len="sm"/>
          </a:ln>
        </p:spPr>
      </p:sp>
      <p:grpSp>
        <p:nvGrpSpPr>
          <p:cNvPr id="43" name="Group 43"/>
          <p:cNvGrpSpPr/>
          <p:nvPr/>
        </p:nvGrpSpPr>
        <p:grpSpPr>
          <a:xfrm>
            <a:off x="9166116" y="8068833"/>
            <a:ext cx="3086100" cy="1189467"/>
            <a:chOff x="0" y="0"/>
            <a:chExt cx="635000" cy="244746"/>
          </a:xfrm>
        </p:grpSpPr>
        <p:sp>
          <p:nvSpPr>
            <p:cNvPr id="44" name="Freeform 44"/>
            <p:cNvSpPr/>
            <p:nvPr/>
          </p:nvSpPr>
          <p:spPr>
            <a:xfrm>
              <a:off x="0" y="0"/>
              <a:ext cx="635000" cy="244746"/>
            </a:xfrm>
            <a:custGeom>
              <a:avLst/>
              <a:gdLst/>
              <a:ahLst/>
              <a:cxnLst/>
              <a:rect l="l" t="t" r="r" b="b"/>
              <a:pathLst>
                <a:path w="635000" h="244746">
                  <a:moveTo>
                    <a:pt x="48997" y="0"/>
                  </a:moveTo>
                  <a:lnTo>
                    <a:pt x="586003" y="0"/>
                  </a:lnTo>
                  <a:cubicBezTo>
                    <a:pt x="598998" y="0"/>
                    <a:pt x="611460" y="5162"/>
                    <a:pt x="620649" y="14351"/>
                  </a:cubicBezTo>
                  <a:cubicBezTo>
                    <a:pt x="629838" y="23540"/>
                    <a:pt x="635000" y="36002"/>
                    <a:pt x="635000" y="48997"/>
                  </a:cubicBezTo>
                  <a:lnTo>
                    <a:pt x="635000" y="195749"/>
                  </a:lnTo>
                  <a:cubicBezTo>
                    <a:pt x="635000" y="222810"/>
                    <a:pt x="613063" y="244746"/>
                    <a:pt x="586003" y="244746"/>
                  </a:cubicBezTo>
                  <a:lnTo>
                    <a:pt x="48997" y="244746"/>
                  </a:lnTo>
                  <a:cubicBezTo>
                    <a:pt x="36002" y="244746"/>
                    <a:pt x="23540" y="239584"/>
                    <a:pt x="14351" y="230395"/>
                  </a:cubicBezTo>
                  <a:cubicBezTo>
                    <a:pt x="5162" y="221207"/>
                    <a:pt x="0" y="208744"/>
                    <a:pt x="0" y="195749"/>
                  </a:cubicBezTo>
                  <a:lnTo>
                    <a:pt x="0" y="48997"/>
                  </a:lnTo>
                  <a:cubicBezTo>
                    <a:pt x="0" y="36002"/>
                    <a:pt x="5162" y="23540"/>
                    <a:pt x="14351" y="14351"/>
                  </a:cubicBezTo>
                  <a:cubicBezTo>
                    <a:pt x="23540" y="5162"/>
                    <a:pt x="36002" y="0"/>
                    <a:pt x="48997" y="0"/>
                  </a:cubicBezTo>
                  <a:close/>
                </a:path>
              </a:pathLst>
            </a:custGeom>
            <a:solidFill>
              <a:srgbClr val="561269"/>
            </a:solidFill>
          </p:spPr>
        </p:sp>
        <p:sp>
          <p:nvSpPr>
            <p:cNvPr id="45" name="TextBox 45"/>
            <p:cNvSpPr txBox="1"/>
            <p:nvPr/>
          </p:nvSpPr>
          <p:spPr>
            <a:xfrm>
              <a:off x="0" y="-47625"/>
              <a:ext cx="635000" cy="292371"/>
            </a:xfrm>
            <a:prstGeom prst="rect">
              <a:avLst/>
            </a:prstGeom>
          </p:spPr>
          <p:txBody>
            <a:bodyPr lIns="50800" tIns="50800" rIns="50800" bIns="50800" rtlCol="0" anchor="ctr"/>
            <a:lstStyle/>
            <a:p>
              <a:pPr algn="ctr">
                <a:lnSpc>
                  <a:spcPts val="3448"/>
                </a:lnSpc>
              </a:pPr>
              <a:endParaRPr/>
            </a:p>
          </p:txBody>
        </p:sp>
      </p:grpSp>
      <p:sp>
        <p:nvSpPr>
          <p:cNvPr id="46" name="AutoShape 46"/>
          <p:cNvSpPr/>
          <p:nvPr/>
        </p:nvSpPr>
        <p:spPr>
          <a:xfrm flipH="1">
            <a:off x="7283154" y="6282501"/>
            <a:ext cx="19050" cy="1032732"/>
          </a:xfrm>
          <a:prstGeom prst="line">
            <a:avLst/>
          </a:prstGeom>
          <a:ln w="38100" cap="flat">
            <a:solidFill>
              <a:srgbClr val="FF3131"/>
            </a:solidFill>
            <a:prstDash val="solid"/>
            <a:headEnd type="none" w="sm" len="sm"/>
            <a:tailEnd type="none" w="sm" len="sm"/>
          </a:ln>
        </p:spPr>
      </p:sp>
      <p:sp>
        <p:nvSpPr>
          <p:cNvPr id="47" name="AutoShape 47"/>
          <p:cNvSpPr/>
          <p:nvPr/>
        </p:nvSpPr>
        <p:spPr>
          <a:xfrm>
            <a:off x="12271266" y="6319810"/>
            <a:ext cx="0" cy="958254"/>
          </a:xfrm>
          <a:prstGeom prst="line">
            <a:avLst/>
          </a:prstGeom>
          <a:ln w="38100" cap="flat">
            <a:solidFill>
              <a:srgbClr val="FF3131"/>
            </a:solidFill>
            <a:prstDash val="solid"/>
            <a:headEnd type="none" w="sm" len="sm"/>
            <a:tailEnd type="none" w="sm" len="sm"/>
          </a:ln>
        </p:spPr>
      </p:sp>
      <p:sp>
        <p:nvSpPr>
          <p:cNvPr id="48" name="AutoShape 48"/>
          <p:cNvSpPr/>
          <p:nvPr/>
        </p:nvSpPr>
        <p:spPr>
          <a:xfrm flipV="1">
            <a:off x="12250781" y="6301751"/>
            <a:ext cx="731143" cy="18841"/>
          </a:xfrm>
          <a:prstGeom prst="line">
            <a:avLst/>
          </a:prstGeom>
          <a:ln w="38100" cap="flat">
            <a:solidFill>
              <a:srgbClr val="FF3131"/>
            </a:solidFill>
            <a:prstDash val="solid"/>
            <a:headEnd type="none" w="sm" len="sm"/>
            <a:tailEnd type="none" w="sm" len="sm"/>
          </a:ln>
        </p:spPr>
      </p:sp>
      <p:sp>
        <p:nvSpPr>
          <p:cNvPr id="49" name="AutoShape 49"/>
          <p:cNvSpPr/>
          <p:nvPr/>
        </p:nvSpPr>
        <p:spPr>
          <a:xfrm flipV="1">
            <a:off x="4040285" y="7259806"/>
            <a:ext cx="8230980" cy="74268"/>
          </a:xfrm>
          <a:prstGeom prst="line">
            <a:avLst/>
          </a:prstGeom>
          <a:ln w="38100" cap="flat">
            <a:solidFill>
              <a:srgbClr val="FF3131"/>
            </a:solidFill>
            <a:prstDash val="solid"/>
            <a:headEnd type="none" w="sm" len="sm"/>
            <a:tailEnd type="none" w="sm" len="sm"/>
          </a:ln>
        </p:spPr>
      </p:sp>
      <p:sp>
        <p:nvSpPr>
          <p:cNvPr id="50" name="AutoShape 50"/>
          <p:cNvSpPr/>
          <p:nvPr/>
        </p:nvSpPr>
        <p:spPr>
          <a:xfrm flipH="1">
            <a:off x="2030553" y="6301548"/>
            <a:ext cx="0" cy="938767"/>
          </a:xfrm>
          <a:prstGeom prst="line">
            <a:avLst/>
          </a:prstGeom>
          <a:ln w="38100" cap="flat">
            <a:solidFill>
              <a:srgbClr val="FF3131"/>
            </a:solidFill>
            <a:prstDash val="solid"/>
            <a:headEnd type="none" w="sm" len="sm"/>
            <a:tailEnd type="none" w="sm" len="sm"/>
          </a:ln>
        </p:spPr>
      </p:sp>
      <p:sp>
        <p:nvSpPr>
          <p:cNvPr id="51" name="AutoShape 51"/>
          <p:cNvSpPr/>
          <p:nvPr/>
        </p:nvSpPr>
        <p:spPr>
          <a:xfrm>
            <a:off x="2011503" y="6320592"/>
            <a:ext cx="486213" cy="0"/>
          </a:xfrm>
          <a:prstGeom prst="line">
            <a:avLst/>
          </a:prstGeom>
          <a:ln w="38100" cap="flat">
            <a:solidFill>
              <a:srgbClr val="FF3131"/>
            </a:solidFill>
            <a:prstDash val="solid"/>
            <a:headEnd type="none" w="sm" len="sm"/>
            <a:tailEnd type="none" w="sm" len="sm"/>
          </a:ln>
        </p:spPr>
      </p:sp>
      <p:sp>
        <p:nvSpPr>
          <p:cNvPr id="52" name="TextBox 52"/>
          <p:cNvSpPr txBox="1"/>
          <p:nvPr/>
        </p:nvSpPr>
        <p:spPr>
          <a:xfrm>
            <a:off x="2844957" y="6066286"/>
            <a:ext cx="2195718" cy="347124"/>
          </a:xfrm>
          <a:prstGeom prst="rect">
            <a:avLst/>
          </a:prstGeom>
        </p:spPr>
        <p:txBody>
          <a:bodyPr lIns="0" tIns="0" rIns="0" bIns="0" rtlCol="0" anchor="t">
            <a:spAutoFit/>
          </a:bodyPr>
          <a:lstStyle/>
          <a:p>
            <a:pPr algn="ctr">
              <a:lnSpc>
                <a:spcPts val="2815"/>
              </a:lnSpc>
              <a:spcBef>
                <a:spcPct val="0"/>
              </a:spcBef>
            </a:pPr>
            <a:r>
              <a:rPr lang="en-US" sz="2011" b="1">
                <a:solidFill>
                  <a:srgbClr val="EDCBF6"/>
                </a:solidFill>
                <a:latin typeface="DM Sans Bold"/>
                <a:ea typeface="DM Sans Bold"/>
                <a:cs typeface="DM Sans Bold"/>
                <a:sym typeface="DM Sans Bold"/>
              </a:rPr>
              <a:t>SPO2 Normal ?</a:t>
            </a:r>
          </a:p>
        </p:txBody>
      </p:sp>
      <p:sp>
        <p:nvSpPr>
          <p:cNvPr id="53" name="TextBox 53"/>
          <p:cNvSpPr txBox="1"/>
          <p:nvPr/>
        </p:nvSpPr>
        <p:spPr>
          <a:xfrm>
            <a:off x="7973006" y="6072341"/>
            <a:ext cx="2386218" cy="373108"/>
          </a:xfrm>
          <a:prstGeom prst="rect">
            <a:avLst/>
          </a:prstGeom>
        </p:spPr>
        <p:txBody>
          <a:bodyPr lIns="0" tIns="0" rIns="0" bIns="0" rtlCol="0" anchor="t">
            <a:spAutoFit/>
          </a:bodyPr>
          <a:lstStyle/>
          <a:p>
            <a:pPr algn="ctr">
              <a:lnSpc>
                <a:spcPts val="3059"/>
              </a:lnSpc>
              <a:spcBef>
                <a:spcPct val="0"/>
              </a:spcBef>
            </a:pPr>
            <a:r>
              <a:rPr lang="en-US" sz="2185" b="1">
                <a:solidFill>
                  <a:srgbClr val="EDCBF6"/>
                </a:solidFill>
                <a:latin typeface="DM Sans Bold"/>
                <a:ea typeface="DM Sans Bold"/>
                <a:cs typeface="DM Sans Bold"/>
                <a:sym typeface="DM Sans Bold"/>
              </a:rPr>
              <a:t>BP Normal ?</a:t>
            </a:r>
          </a:p>
        </p:txBody>
      </p:sp>
      <p:sp>
        <p:nvSpPr>
          <p:cNvPr id="54" name="TextBox 54"/>
          <p:cNvSpPr txBox="1"/>
          <p:nvPr/>
        </p:nvSpPr>
        <p:spPr>
          <a:xfrm>
            <a:off x="13468190" y="6004723"/>
            <a:ext cx="1940729" cy="603163"/>
          </a:xfrm>
          <a:prstGeom prst="rect">
            <a:avLst/>
          </a:prstGeom>
        </p:spPr>
        <p:txBody>
          <a:bodyPr lIns="0" tIns="0" rIns="0" bIns="0" rtlCol="0" anchor="t">
            <a:spAutoFit/>
          </a:bodyPr>
          <a:lstStyle/>
          <a:p>
            <a:pPr algn="ctr">
              <a:lnSpc>
                <a:spcPts val="2488"/>
              </a:lnSpc>
              <a:spcBef>
                <a:spcPct val="0"/>
              </a:spcBef>
            </a:pPr>
            <a:r>
              <a:rPr lang="en-US" sz="1777" b="1">
                <a:solidFill>
                  <a:srgbClr val="EDCBF6"/>
                </a:solidFill>
                <a:latin typeface="DM Sans Bold"/>
                <a:ea typeface="DM Sans Bold"/>
                <a:cs typeface="DM Sans Bold"/>
                <a:sym typeface="DM Sans Bold"/>
              </a:rPr>
              <a:t>Temperature Normal ?</a:t>
            </a:r>
          </a:p>
        </p:txBody>
      </p:sp>
      <p:sp>
        <p:nvSpPr>
          <p:cNvPr id="55" name="TextBox 55"/>
          <p:cNvSpPr txBox="1"/>
          <p:nvPr/>
        </p:nvSpPr>
        <p:spPr>
          <a:xfrm>
            <a:off x="1193328" y="7422721"/>
            <a:ext cx="2749488" cy="1662914"/>
          </a:xfrm>
          <a:prstGeom prst="rect">
            <a:avLst/>
          </a:prstGeom>
        </p:spPr>
        <p:txBody>
          <a:bodyPr lIns="0" tIns="0" rIns="0" bIns="0" rtlCol="0" anchor="t">
            <a:spAutoFit/>
          </a:bodyPr>
          <a:lstStyle/>
          <a:p>
            <a:pPr algn="l">
              <a:lnSpc>
                <a:spcPts val="3368"/>
              </a:lnSpc>
              <a:spcBef>
                <a:spcPct val="0"/>
              </a:spcBef>
            </a:pPr>
            <a:r>
              <a:rPr lang="en-US" sz="2405" b="1">
                <a:solidFill>
                  <a:srgbClr val="EDCBF6"/>
                </a:solidFill>
                <a:latin typeface="DM Sans Bold"/>
                <a:ea typeface="DM Sans Bold"/>
                <a:cs typeface="DM Sans Bold"/>
                <a:sym typeface="DM Sans Bold"/>
              </a:rPr>
              <a:t>Send alert message to doctor,paramedic and realtive</a:t>
            </a:r>
          </a:p>
        </p:txBody>
      </p:sp>
      <p:sp>
        <p:nvSpPr>
          <p:cNvPr id="56" name="TextBox 56"/>
          <p:cNvSpPr txBox="1"/>
          <p:nvPr/>
        </p:nvSpPr>
        <p:spPr>
          <a:xfrm>
            <a:off x="9493941" y="8211315"/>
            <a:ext cx="2386218" cy="754108"/>
          </a:xfrm>
          <a:prstGeom prst="rect">
            <a:avLst/>
          </a:prstGeom>
        </p:spPr>
        <p:txBody>
          <a:bodyPr lIns="0" tIns="0" rIns="0" bIns="0" rtlCol="0" anchor="t">
            <a:spAutoFit/>
          </a:bodyPr>
          <a:lstStyle/>
          <a:p>
            <a:pPr algn="ctr">
              <a:lnSpc>
                <a:spcPts val="3059"/>
              </a:lnSpc>
              <a:spcBef>
                <a:spcPct val="0"/>
              </a:spcBef>
            </a:pPr>
            <a:r>
              <a:rPr lang="en-US" sz="2185" b="1">
                <a:solidFill>
                  <a:srgbClr val="EDCBF6"/>
                </a:solidFill>
                <a:latin typeface="DM Sans Bold"/>
                <a:ea typeface="DM Sans Bold"/>
                <a:cs typeface="DM Sans Bold"/>
                <a:sym typeface="DM Sans Bold"/>
              </a:rPr>
              <a:t>Store values to cloud</a:t>
            </a:r>
          </a:p>
        </p:txBody>
      </p:sp>
      <p:grpSp>
        <p:nvGrpSpPr>
          <p:cNvPr id="57" name="Group 57"/>
          <p:cNvGrpSpPr/>
          <p:nvPr/>
        </p:nvGrpSpPr>
        <p:grpSpPr>
          <a:xfrm>
            <a:off x="13922982" y="8590861"/>
            <a:ext cx="3594800" cy="1189467"/>
            <a:chOff x="0" y="0"/>
            <a:chExt cx="739671" cy="244746"/>
          </a:xfrm>
        </p:grpSpPr>
        <p:sp>
          <p:nvSpPr>
            <p:cNvPr id="58" name="Freeform 58"/>
            <p:cNvSpPr/>
            <p:nvPr/>
          </p:nvSpPr>
          <p:spPr>
            <a:xfrm>
              <a:off x="0" y="0"/>
              <a:ext cx="739671" cy="244746"/>
            </a:xfrm>
            <a:custGeom>
              <a:avLst/>
              <a:gdLst/>
              <a:ahLst/>
              <a:cxnLst/>
              <a:rect l="l" t="t" r="r" b="b"/>
              <a:pathLst>
                <a:path w="739671" h="244746">
                  <a:moveTo>
                    <a:pt x="42063" y="0"/>
                  </a:moveTo>
                  <a:lnTo>
                    <a:pt x="697607" y="0"/>
                  </a:lnTo>
                  <a:cubicBezTo>
                    <a:pt x="708763" y="0"/>
                    <a:pt x="719462" y="4432"/>
                    <a:pt x="727351" y="12320"/>
                  </a:cubicBezTo>
                  <a:cubicBezTo>
                    <a:pt x="735239" y="20208"/>
                    <a:pt x="739671" y="30907"/>
                    <a:pt x="739671" y="42063"/>
                  </a:cubicBezTo>
                  <a:lnTo>
                    <a:pt x="739671" y="202683"/>
                  </a:lnTo>
                  <a:cubicBezTo>
                    <a:pt x="739671" y="225914"/>
                    <a:pt x="720838" y="244746"/>
                    <a:pt x="697607" y="244746"/>
                  </a:cubicBezTo>
                  <a:lnTo>
                    <a:pt x="42063" y="244746"/>
                  </a:lnTo>
                  <a:cubicBezTo>
                    <a:pt x="18832" y="244746"/>
                    <a:pt x="0" y="225914"/>
                    <a:pt x="0" y="202683"/>
                  </a:cubicBezTo>
                  <a:lnTo>
                    <a:pt x="0" y="42063"/>
                  </a:lnTo>
                  <a:cubicBezTo>
                    <a:pt x="0" y="18832"/>
                    <a:pt x="18832" y="0"/>
                    <a:pt x="42063" y="0"/>
                  </a:cubicBezTo>
                  <a:close/>
                </a:path>
              </a:pathLst>
            </a:custGeom>
            <a:solidFill>
              <a:srgbClr val="561269"/>
            </a:solidFill>
          </p:spPr>
        </p:sp>
        <p:sp>
          <p:nvSpPr>
            <p:cNvPr id="59" name="TextBox 59"/>
            <p:cNvSpPr txBox="1"/>
            <p:nvPr/>
          </p:nvSpPr>
          <p:spPr>
            <a:xfrm>
              <a:off x="0" y="-47625"/>
              <a:ext cx="739671" cy="292371"/>
            </a:xfrm>
            <a:prstGeom prst="rect">
              <a:avLst/>
            </a:prstGeom>
          </p:spPr>
          <p:txBody>
            <a:bodyPr lIns="50800" tIns="50800" rIns="50800" bIns="50800" rtlCol="0" anchor="ctr"/>
            <a:lstStyle/>
            <a:p>
              <a:pPr algn="ctr">
                <a:lnSpc>
                  <a:spcPts val="3448"/>
                </a:lnSpc>
              </a:pPr>
              <a:endParaRPr/>
            </a:p>
          </p:txBody>
        </p:sp>
      </p:grpSp>
      <p:sp>
        <p:nvSpPr>
          <p:cNvPr id="60" name="TextBox 60"/>
          <p:cNvSpPr txBox="1"/>
          <p:nvPr/>
        </p:nvSpPr>
        <p:spPr>
          <a:xfrm>
            <a:off x="14083924" y="8645219"/>
            <a:ext cx="3175376" cy="1135108"/>
          </a:xfrm>
          <a:prstGeom prst="rect">
            <a:avLst/>
          </a:prstGeom>
        </p:spPr>
        <p:txBody>
          <a:bodyPr lIns="0" tIns="0" rIns="0" bIns="0" rtlCol="0" anchor="t">
            <a:spAutoFit/>
          </a:bodyPr>
          <a:lstStyle/>
          <a:p>
            <a:pPr algn="l">
              <a:lnSpc>
                <a:spcPts val="3059"/>
              </a:lnSpc>
              <a:spcBef>
                <a:spcPct val="0"/>
              </a:spcBef>
            </a:pPr>
            <a:r>
              <a:rPr lang="en-US" sz="2185" b="1">
                <a:solidFill>
                  <a:srgbClr val="EDCBF6"/>
                </a:solidFill>
                <a:latin typeface="DM Sans Bold"/>
                <a:ea typeface="DM Sans Bold"/>
                <a:cs typeface="DM Sans Bold"/>
                <a:sym typeface="DM Sans Bold"/>
              </a:rPr>
              <a:t>Get and display the values on the mobile app</a:t>
            </a:r>
          </a:p>
        </p:txBody>
      </p:sp>
      <p:sp>
        <p:nvSpPr>
          <p:cNvPr id="61" name="TextBox 61"/>
          <p:cNvSpPr txBox="1"/>
          <p:nvPr/>
        </p:nvSpPr>
        <p:spPr>
          <a:xfrm>
            <a:off x="5286803" y="5848645"/>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Yes</a:t>
            </a:r>
          </a:p>
        </p:txBody>
      </p:sp>
      <p:sp>
        <p:nvSpPr>
          <p:cNvPr id="62" name="TextBox 62"/>
          <p:cNvSpPr txBox="1"/>
          <p:nvPr/>
        </p:nvSpPr>
        <p:spPr>
          <a:xfrm>
            <a:off x="10281691" y="5829598"/>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Yes</a:t>
            </a:r>
          </a:p>
        </p:txBody>
      </p:sp>
      <p:sp>
        <p:nvSpPr>
          <p:cNvPr id="63" name="TextBox 63"/>
          <p:cNvSpPr txBox="1"/>
          <p:nvPr/>
        </p:nvSpPr>
        <p:spPr>
          <a:xfrm>
            <a:off x="15522706" y="5866742"/>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Yes</a:t>
            </a:r>
          </a:p>
        </p:txBody>
      </p:sp>
      <p:sp>
        <p:nvSpPr>
          <p:cNvPr id="64" name="TextBox 64"/>
          <p:cNvSpPr txBox="1"/>
          <p:nvPr/>
        </p:nvSpPr>
        <p:spPr>
          <a:xfrm>
            <a:off x="2011503" y="5867689"/>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No</a:t>
            </a:r>
          </a:p>
        </p:txBody>
      </p:sp>
      <p:sp>
        <p:nvSpPr>
          <p:cNvPr id="65" name="TextBox 65"/>
          <p:cNvSpPr txBox="1"/>
          <p:nvPr/>
        </p:nvSpPr>
        <p:spPr>
          <a:xfrm>
            <a:off x="7158865" y="5829601"/>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No</a:t>
            </a:r>
          </a:p>
        </p:txBody>
      </p:sp>
      <p:sp>
        <p:nvSpPr>
          <p:cNvPr id="66" name="TextBox 66"/>
          <p:cNvSpPr txBox="1"/>
          <p:nvPr/>
        </p:nvSpPr>
        <p:spPr>
          <a:xfrm>
            <a:off x="12313437" y="5829598"/>
            <a:ext cx="699841" cy="434062"/>
          </a:xfrm>
          <a:prstGeom prst="rect">
            <a:avLst/>
          </a:prstGeom>
        </p:spPr>
        <p:txBody>
          <a:bodyPr lIns="0" tIns="0" rIns="0" bIns="0" rtlCol="0" anchor="t">
            <a:spAutoFit/>
          </a:bodyPr>
          <a:lstStyle/>
          <a:p>
            <a:pPr algn="ctr">
              <a:lnSpc>
                <a:spcPts val="3640"/>
              </a:lnSpc>
              <a:spcBef>
                <a:spcPct val="0"/>
              </a:spcBef>
            </a:pPr>
            <a:r>
              <a:rPr lang="en-US" sz="2600" b="1">
                <a:solidFill>
                  <a:srgbClr val="FFFFFF"/>
                </a:solidFill>
                <a:latin typeface="DM Sans Bold"/>
                <a:ea typeface="DM Sans Bold"/>
                <a:cs typeface="DM Sans Bold"/>
                <a:sym typeface="DM Sans Bold"/>
              </a:rPr>
              <a:t>No</a:t>
            </a:r>
          </a:p>
        </p:txBody>
      </p:sp>
      <p:sp>
        <p:nvSpPr>
          <p:cNvPr id="67" name="AutoShape 67"/>
          <p:cNvSpPr/>
          <p:nvPr/>
        </p:nvSpPr>
        <p:spPr>
          <a:xfrm>
            <a:off x="12252216" y="8946374"/>
            <a:ext cx="1593648" cy="0"/>
          </a:xfrm>
          <a:prstGeom prst="line">
            <a:avLst/>
          </a:prstGeom>
          <a:ln w="38100" cap="flat">
            <a:solidFill>
              <a:srgbClr val="FFFFFF"/>
            </a:solidFill>
            <a:prstDash val="solid"/>
            <a:headEnd type="none" w="sm" len="sm"/>
            <a:tailEnd type="arrow" w="med"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p:sp>
        <p:nvSpPr>
          <p:cNvPr id="2" name="AutoShape 2"/>
          <p:cNvSpPr/>
          <p:nvPr/>
        </p:nvSpPr>
        <p:spPr>
          <a:xfrm flipH="1">
            <a:off x="1561459" y="1865436"/>
            <a:ext cx="438687" cy="8029649"/>
          </a:xfrm>
          <a:prstGeom prst="line">
            <a:avLst/>
          </a:prstGeom>
          <a:ln w="38100" cap="flat">
            <a:solidFill>
              <a:srgbClr val="561269"/>
            </a:solidFill>
            <a:prstDash val="solid"/>
            <a:headEnd type="none" w="sm" len="sm"/>
            <a:tailEnd type="none" w="sm" len="sm"/>
          </a:ln>
        </p:spPr>
      </p:sp>
      <p:grpSp>
        <p:nvGrpSpPr>
          <p:cNvPr id="3" name="Group 3"/>
          <p:cNvGrpSpPr/>
          <p:nvPr/>
        </p:nvGrpSpPr>
        <p:grpSpPr>
          <a:xfrm>
            <a:off x="1561459" y="1454131"/>
            <a:ext cx="890895" cy="89089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5" name="TextBox 5"/>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grpSp>
        <p:nvGrpSpPr>
          <p:cNvPr id="6" name="Group 6"/>
          <p:cNvGrpSpPr/>
          <p:nvPr/>
        </p:nvGrpSpPr>
        <p:grpSpPr>
          <a:xfrm>
            <a:off x="1116012" y="9225222"/>
            <a:ext cx="890895" cy="89089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8" name="TextBox 8"/>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grpSp>
        <p:nvGrpSpPr>
          <p:cNvPr id="9" name="Group 9"/>
          <p:cNvGrpSpPr/>
          <p:nvPr/>
        </p:nvGrpSpPr>
        <p:grpSpPr>
          <a:xfrm>
            <a:off x="-1681373" y="1953157"/>
            <a:ext cx="4573082" cy="7305143"/>
            <a:chOff x="0" y="0"/>
            <a:chExt cx="1204433" cy="1923988"/>
          </a:xfrm>
        </p:grpSpPr>
        <p:sp>
          <p:nvSpPr>
            <p:cNvPr id="10" name="Freeform 10"/>
            <p:cNvSpPr/>
            <p:nvPr/>
          </p:nvSpPr>
          <p:spPr>
            <a:xfrm>
              <a:off x="0" y="0"/>
              <a:ext cx="1204433" cy="1923988"/>
            </a:xfrm>
            <a:custGeom>
              <a:avLst/>
              <a:gdLst/>
              <a:ahLst/>
              <a:cxnLst/>
              <a:rect l="l" t="t" r="r" b="b"/>
              <a:pathLst>
                <a:path w="1204433" h="1923988">
                  <a:moveTo>
                    <a:pt x="602216" y="0"/>
                  </a:moveTo>
                  <a:cubicBezTo>
                    <a:pt x="269622" y="0"/>
                    <a:pt x="0" y="430699"/>
                    <a:pt x="0" y="961994"/>
                  </a:cubicBezTo>
                  <a:cubicBezTo>
                    <a:pt x="0" y="1493289"/>
                    <a:pt x="269622" y="1923988"/>
                    <a:pt x="602216" y="1923988"/>
                  </a:cubicBezTo>
                  <a:cubicBezTo>
                    <a:pt x="934811" y="1923988"/>
                    <a:pt x="1204433" y="1493289"/>
                    <a:pt x="1204433" y="961994"/>
                  </a:cubicBezTo>
                  <a:cubicBezTo>
                    <a:pt x="1204433" y="430699"/>
                    <a:pt x="934811" y="0"/>
                    <a:pt x="602216" y="0"/>
                  </a:cubicBezTo>
                  <a:close/>
                </a:path>
              </a:pathLst>
            </a:custGeom>
            <a:solidFill>
              <a:srgbClr val="561269"/>
            </a:solidFill>
          </p:spPr>
        </p:sp>
        <p:sp>
          <p:nvSpPr>
            <p:cNvPr id="11" name="TextBox 11"/>
            <p:cNvSpPr txBox="1"/>
            <p:nvPr/>
          </p:nvSpPr>
          <p:spPr>
            <a:xfrm>
              <a:off x="112916" y="132749"/>
              <a:ext cx="978602" cy="1610865"/>
            </a:xfrm>
            <a:prstGeom prst="rect">
              <a:avLst/>
            </a:prstGeom>
          </p:spPr>
          <p:txBody>
            <a:bodyPr lIns="50800" tIns="50800" rIns="50800" bIns="50800" rtlCol="0" anchor="ctr"/>
            <a:lstStyle/>
            <a:p>
              <a:pPr algn="ctr">
                <a:lnSpc>
                  <a:spcPts val="3448"/>
                </a:lnSpc>
              </a:pPr>
              <a:endParaRPr/>
            </a:p>
          </p:txBody>
        </p:sp>
      </p:grpSp>
      <p:grpSp>
        <p:nvGrpSpPr>
          <p:cNvPr id="12" name="Group 12"/>
          <p:cNvGrpSpPr/>
          <p:nvPr/>
        </p:nvGrpSpPr>
        <p:grpSpPr>
          <a:xfrm>
            <a:off x="2225614" y="2547081"/>
            <a:ext cx="890895" cy="89089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14" name="TextBox 14"/>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grpSp>
        <p:nvGrpSpPr>
          <p:cNvPr id="15" name="Group 15"/>
          <p:cNvGrpSpPr/>
          <p:nvPr/>
        </p:nvGrpSpPr>
        <p:grpSpPr>
          <a:xfrm>
            <a:off x="2671061" y="3892668"/>
            <a:ext cx="890895" cy="89089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17" name="TextBox 17"/>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grpSp>
        <p:nvGrpSpPr>
          <p:cNvPr id="18" name="Group 18"/>
          <p:cNvGrpSpPr/>
          <p:nvPr/>
        </p:nvGrpSpPr>
        <p:grpSpPr>
          <a:xfrm>
            <a:off x="2006907" y="8180638"/>
            <a:ext cx="890895" cy="89089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20" name="TextBox 20"/>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grpSp>
        <p:nvGrpSpPr>
          <p:cNvPr id="21" name="Group 21"/>
          <p:cNvGrpSpPr/>
          <p:nvPr/>
        </p:nvGrpSpPr>
        <p:grpSpPr>
          <a:xfrm>
            <a:off x="2617547" y="6789675"/>
            <a:ext cx="890895" cy="795645"/>
            <a:chOff x="0" y="0"/>
            <a:chExt cx="812800" cy="725899"/>
          </a:xfrm>
        </p:grpSpPr>
        <p:sp>
          <p:nvSpPr>
            <p:cNvPr id="22" name="Freeform 22"/>
            <p:cNvSpPr/>
            <p:nvPr/>
          </p:nvSpPr>
          <p:spPr>
            <a:xfrm>
              <a:off x="0" y="0"/>
              <a:ext cx="812800" cy="725899"/>
            </a:xfrm>
            <a:custGeom>
              <a:avLst/>
              <a:gdLst/>
              <a:ahLst/>
              <a:cxnLst/>
              <a:rect l="l" t="t" r="r" b="b"/>
              <a:pathLst>
                <a:path w="812800" h="725899">
                  <a:moveTo>
                    <a:pt x="406400" y="0"/>
                  </a:moveTo>
                  <a:cubicBezTo>
                    <a:pt x="181951" y="0"/>
                    <a:pt x="0" y="162498"/>
                    <a:pt x="0" y="362950"/>
                  </a:cubicBezTo>
                  <a:cubicBezTo>
                    <a:pt x="0" y="563401"/>
                    <a:pt x="181951" y="725899"/>
                    <a:pt x="406400" y="725899"/>
                  </a:cubicBezTo>
                  <a:cubicBezTo>
                    <a:pt x="630849" y="725899"/>
                    <a:pt x="812800" y="563401"/>
                    <a:pt x="812800" y="362950"/>
                  </a:cubicBezTo>
                  <a:cubicBezTo>
                    <a:pt x="812800" y="162498"/>
                    <a:pt x="630849" y="0"/>
                    <a:pt x="406400" y="0"/>
                  </a:cubicBezTo>
                  <a:close/>
                </a:path>
              </a:pathLst>
            </a:custGeom>
            <a:solidFill>
              <a:srgbClr val="561269"/>
            </a:solidFill>
          </p:spPr>
        </p:sp>
        <p:sp>
          <p:nvSpPr>
            <p:cNvPr id="23" name="TextBox 23"/>
            <p:cNvSpPr txBox="1"/>
            <p:nvPr/>
          </p:nvSpPr>
          <p:spPr>
            <a:xfrm>
              <a:off x="76200" y="1378"/>
              <a:ext cx="660400" cy="656468"/>
            </a:xfrm>
            <a:prstGeom prst="rect">
              <a:avLst/>
            </a:prstGeom>
          </p:spPr>
          <p:txBody>
            <a:bodyPr lIns="44983" tIns="44983" rIns="44983" bIns="44983" rtlCol="0" anchor="ctr"/>
            <a:lstStyle/>
            <a:p>
              <a:pPr algn="ctr">
                <a:lnSpc>
                  <a:spcPts val="2338"/>
                </a:lnSpc>
              </a:pPr>
              <a:endParaRPr/>
            </a:p>
          </p:txBody>
        </p:sp>
      </p:grpSp>
      <p:sp>
        <p:nvSpPr>
          <p:cNvPr id="24" name="TextBox 24"/>
          <p:cNvSpPr txBox="1"/>
          <p:nvPr/>
        </p:nvSpPr>
        <p:spPr>
          <a:xfrm>
            <a:off x="3784935" y="627387"/>
            <a:ext cx="10718130" cy="1088375"/>
          </a:xfrm>
          <a:prstGeom prst="rect">
            <a:avLst/>
          </a:prstGeom>
        </p:spPr>
        <p:txBody>
          <a:bodyPr lIns="0" tIns="0" rIns="0" bIns="0" rtlCol="0" anchor="t">
            <a:spAutoFit/>
          </a:bodyPr>
          <a:lstStyle/>
          <a:p>
            <a:pPr algn="l">
              <a:lnSpc>
                <a:spcPts val="4884"/>
              </a:lnSpc>
            </a:pPr>
            <a:r>
              <a:rPr lang="en-US" sz="6522" b="1">
                <a:solidFill>
                  <a:srgbClr val="2B0934"/>
                </a:solidFill>
                <a:latin typeface="Montserrat Bold"/>
                <a:ea typeface="Montserrat Bold"/>
                <a:cs typeface="Montserrat Bold"/>
                <a:sym typeface="Montserrat Bold"/>
              </a:rPr>
              <a:t>IMPLEMENTATION PLAN </a:t>
            </a:r>
          </a:p>
          <a:p>
            <a:pPr algn="ctr">
              <a:lnSpc>
                <a:spcPts val="6007"/>
              </a:lnSpc>
            </a:pPr>
            <a:endParaRPr lang="en-US" sz="6522" b="1">
              <a:solidFill>
                <a:srgbClr val="2B0934"/>
              </a:solidFill>
              <a:latin typeface="Montserrat Bold"/>
              <a:ea typeface="Montserrat Bold"/>
              <a:cs typeface="Montserrat Bold"/>
              <a:sym typeface="Montserrat Bold"/>
            </a:endParaRPr>
          </a:p>
        </p:txBody>
      </p:sp>
      <p:sp>
        <p:nvSpPr>
          <p:cNvPr id="25" name="TextBox 25"/>
          <p:cNvSpPr txBox="1"/>
          <p:nvPr/>
        </p:nvSpPr>
        <p:spPr>
          <a:xfrm>
            <a:off x="1924310" y="1565125"/>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1</a:t>
            </a:r>
          </a:p>
        </p:txBody>
      </p:sp>
      <p:sp>
        <p:nvSpPr>
          <p:cNvPr id="26" name="TextBox 26"/>
          <p:cNvSpPr txBox="1"/>
          <p:nvPr/>
        </p:nvSpPr>
        <p:spPr>
          <a:xfrm>
            <a:off x="2557432" y="2621043"/>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2</a:t>
            </a:r>
          </a:p>
        </p:txBody>
      </p:sp>
      <p:sp>
        <p:nvSpPr>
          <p:cNvPr id="27" name="TextBox 27"/>
          <p:cNvSpPr txBox="1"/>
          <p:nvPr/>
        </p:nvSpPr>
        <p:spPr>
          <a:xfrm>
            <a:off x="3002880" y="3983161"/>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3</a:t>
            </a:r>
          </a:p>
        </p:txBody>
      </p:sp>
      <p:grpSp>
        <p:nvGrpSpPr>
          <p:cNvPr id="28" name="Group 28"/>
          <p:cNvGrpSpPr/>
          <p:nvPr/>
        </p:nvGrpSpPr>
        <p:grpSpPr>
          <a:xfrm>
            <a:off x="2805222" y="5238254"/>
            <a:ext cx="890895" cy="89089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1269"/>
            </a:solidFill>
          </p:spPr>
        </p:sp>
        <p:sp>
          <p:nvSpPr>
            <p:cNvPr id="30" name="TextBox 30"/>
            <p:cNvSpPr txBox="1"/>
            <p:nvPr/>
          </p:nvSpPr>
          <p:spPr>
            <a:xfrm>
              <a:off x="76200" y="9525"/>
              <a:ext cx="660400" cy="727075"/>
            </a:xfrm>
            <a:prstGeom prst="rect">
              <a:avLst/>
            </a:prstGeom>
          </p:spPr>
          <p:txBody>
            <a:bodyPr lIns="44983" tIns="44983" rIns="44983" bIns="44983" rtlCol="0" anchor="ctr"/>
            <a:lstStyle/>
            <a:p>
              <a:pPr algn="ctr">
                <a:lnSpc>
                  <a:spcPts val="2338"/>
                </a:lnSpc>
              </a:pPr>
              <a:endParaRPr/>
            </a:p>
          </p:txBody>
        </p:sp>
      </p:grpSp>
      <p:sp>
        <p:nvSpPr>
          <p:cNvPr id="31" name="TextBox 31"/>
          <p:cNvSpPr txBox="1"/>
          <p:nvPr/>
        </p:nvSpPr>
        <p:spPr>
          <a:xfrm>
            <a:off x="3116508" y="5328747"/>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4</a:t>
            </a:r>
          </a:p>
        </p:txBody>
      </p:sp>
      <p:sp>
        <p:nvSpPr>
          <p:cNvPr id="32" name="TextBox 32"/>
          <p:cNvSpPr txBox="1"/>
          <p:nvPr/>
        </p:nvSpPr>
        <p:spPr>
          <a:xfrm>
            <a:off x="2951315" y="6832543"/>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5</a:t>
            </a:r>
          </a:p>
        </p:txBody>
      </p:sp>
      <p:sp>
        <p:nvSpPr>
          <p:cNvPr id="33" name="TextBox 33"/>
          <p:cNvSpPr txBox="1"/>
          <p:nvPr/>
        </p:nvSpPr>
        <p:spPr>
          <a:xfrm>
            <a:off x="2312431" y="8285413"/>
            <a:ext cx="279846"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6</a:t>
            </a:r>
          </a:p>
        </p:txBody>
      </p:sp>
      <p:sp>
        <p:nvSpPr>
          <p:cNvPr id="34" name="TextBox 34"/>
          <p:cNvSpPr txBox="1"/>
          <p:nvPr/>
        </p:nvSpPr>
        <p:spPr>
          <a:xfrm>
            <a:off x="1478863" y="9315715"/>
            <a:ext cx="165193" cy="614659"/>
          </a:xfrm>
          <a:prstGeom prst="rect">
            <a:avLst/>
          </a:prstGeom>
        </p:spPr>
        <p:txBody>
          <a:bodyPr lIns="0" tIns="0" rIns="0" bIns="0" rtlCol="0" anchor="t">
            <a:spAutoFit/>
          </a:bodyPr>
          <a:lstStyle/>
          <a:p>
            <a:pPr algn="ctr">
              <a:lnSpc>
                <a:spcPts val="4842"/>
              </a:lnSpc>
            </a:pPr>
            <a:r>
              <a:rPr lang="en-US" sz="3458" b="1">
                <a:solidFill>
                  <a:srgbClr val="EDCBF6"/>
                </a:solidFill>
                <a:latin typeface="Poppins Bold"/>
                <a:ea typeface="Poppins Bold"/>
                <a:cs typeface="Poppins Bold"/>
                <a:sym typeface="Poppins Bold"/>
              </a:rPr>
              <a:t>7</a:t>
            </a:r>
          </a:p>
        </p:txBody>
      </p:sp>
      <p:sp>
        <p:nvSpPr>
          <p:cNvPr id="35" name="TextBox 35"/>
          <p:cNvSpPr txBox="1"/>
          <p:nvPr/>
        </p:nvSpPr>
        <p:spPr>
          <a:xfrm>
            <a:off x="1644056" y="1674334"/>
            <a:ext cx="8917558"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Hardware assembling and data acquisition</a:t>
            </a:r>
          </a:p>
        </p:txBody>
      </p:sp>
      <p:sp>
        <p:nvSpPr>
          <p:cNvPr id="36" name="TextBox 36"/>
          <p:cNvSpPr txBox="1"/>
          <p:nvPr/>
        </p:nvSpPr>
        <p:spPr>
          <a:xfrm>
            <a:off x="3508442" y="2743953"/>
            <a:ext cx="9509820"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Secure data transmission through encrypted communication</a:t>
            </a:r>
          </a:p>
        </p:txBody>
      </p:sp>
      <p:sp>
        <p:nvSpPr>
          <p:cNvPr id="37" name="TextBox 37"/>
          <p:cNvSpPr txBox="1"/>
          <p:nvPr/>
        </p:nvSpPr>
        <p:spPr>
          <a:xfrm>
            <a:off x="3801516" y="4092370"/>
            <a:ext cx="7838989"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Developing API’s(backend) and database setup</a:t>
            </a:r>
          </a:p>
        </p:txBody>
      </p:sp>
      <p:sp>
        <p:nvSpPr>
          <p:cNvPr id="38" name="TextBox 38"/>
          <p:cNvSpPr txBox="1"/>
          <p:nvPr/>
        </p:nvSpPr>
        <p:spPr>
          <a:xfrm>
            <a:off x="3849707" y="6941753"/>
            <a:ext cx="6323809"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Integrate alert and notification system </a:t>
            </a:r>
          </a:p>
        </p:txBody>
      </p:sp>
      <p:sp>
        <p:nvSpPr>
          <p:cNvPr id="39" name="TextBox 39"/>
          <p:cNvSpPr txBox="1"/>
          <p:nvPr/>
        </p:nvSpPr>
        <p:spPr>
          <a:xfrm>
            <a:off x="3508442" y="8380340"/>
            <a:ext cx="9206508"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Design secure login system and dashboard for patient vitals</a:t>
            </a:r>
          </a:p>
        </p:txBody>
      </p:sp>
      <p:sp>
        <p:nvSpPr>
          <p:cNvPr id="40" name="TextBox 40"/>
          <p:cNvSpPr txBox="1"/>
          <p:nvPr/>
        </p:nvSpPr>
        <p:spPr>
          <a:xfrm>
            <a:off x="4188487" y="5359984"/>
            <a:ext cx="11970059"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Detect abnormal conditions through algorithms and classify emergency levels</a:t>
            </a:r>
          </a:p>
        </p:txBody>
      </p:sp>
      <p:sp>
        <p:nvSpPr>
          <p:cNvPr id="41" name="TextBox 41"/>
          <p:cNvSpPr txBox="1"/>
          <p:nvPr/>
        </p:nvSpPr>
        <p:spPr>
          <a:xfrm>
            <a:off x="2452354" y="9429750"/>
            <a:ext cx="11263015" cy="424814"/>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Through testing and validation ensure system stability and accuracy</a:t>
            </a:r>
          </a:p>
        </p:txBody>
      </p:sp>
      <p:sp>
        <p:nvSpPr>
          <p:cNvPr id="42" name="TextBox 42"/>
          <p:cNvSpPr txBox="1"/>
          <p:nvPr/>
        </p:nvSpPr>
        <p:spPr>
          <a:xfrm>
            <a:off x="82596" y="4916912"/>
            <a:ext cx="2722625" cy="843914"/>
          </a:xfrm>
          <a:prstGeom prst="rect">
            <a:avLst/>
          </a:prstGeom>
        </p:spPr>
        <p:txBody>
          <a:bodyPr lIns="0" tIns="0" rIns="0" bIns="0" rtlCol="0" anchor="t">
            <a:spAutoFit/>
          </a:bodyPr>
          <a:lstStyle/>
          <a:p>
            <a:pPr algn="l">
              <a:lnSpc>
                <a:spcPts val="3360"/>
              </a:lnSpc>
            </a:pPr>
            <a:r>
              <a:rPr lang="en-US" sz="2400" b="1">
                <a:solidFill>
                  <a:srgbClr val="EDCBF6"/>
                </a:solidFill>
                <a:latin typeface="Poppins Bold"/>
                <a:ea typeface="Poppins Bold"/>
                <a:cs typeface="Poppins Bold"/>
                <a:sym typeface="Poppins Bold"/>
              </a:rPr>
              <a:t>PHASES OF IMPLEMENTATION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38B7B47-2C4D-2015-E442-ED7E2AE818A1}"/>
                  </a:ext>
                </a:extLst>
              </p14:cNvPr>
              <p14:cNvContentPartPr/>
              <p14:nvPr/>
            </p14:nvContentPartPr>
            <p14:xfrm>
              <a:off x="2304636" y="4809980"/>
              <a:ext cx="360" cy="360"/>
            </p14:xfrm>
          </p:contentPart>
        </mc:Choice>
        <mc:Fallback xmlns="">
          <p:pic>
            <p:nvPicPr>
              <p:cNvPr id="4" name="Ink 3">
                <a:extLst>
                  <a:ext uri="{FF2B5EF4-FFF2-40B4-BE49-F238E27FC236}">
                    <a16:creationId xmlns:a16="http://schemas.microsoft.com/office/drawing/2014/main" id="{638B7B47-2C4D-2015-E442-ED7E2AE818A1}"/>
                  </a:ext>
                </a:extLst>
              </p:cNvPr>
              <p:cNvPicPr/>
              <p:nvPr/>
            </p:nvPicPr>
            <p:blipFill>
              <a:blip r:embed="rId3"/>
              <a:stretch>
                <a:fillRect/>
              </a:stretch>
            </p:blipFill>
            <p:spPr>
              <a:xfrm>
                <a:off x="2250996" y="470198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F446790-EB1A-84DC-01F0-4C8C6A6100A8}"/>
                  </a:ext>
                </a:extLst>
              </p14:cNvPr>
              <p14:cNvContentPartPr/>
              <p14:nvPr/>
            </p14:nvContentPartPr>
            <p14:xfrm>
              <a:off x="-413025" y="6017203"/>
              <a:ext cx="360" cy="360"/>
            </p14:xfrm>
          </p:contentPart>
        </mc:Choice>
        <mc:Fallback xmlns="">
          <p:pic>
            <p:nvPicPr>
              <p:cNvPr id="6" name="Ink 5">
                <a:extLst>
                  <a:ext uri="{FF2B5EF4-FFF2-40B4-BE49-F238E27FC236}">
                    <a16:creationId xmlns:a16="http://schemas.microsoft.com/office/drawing/2014/main" id="{BF446790-EB1A-84DC-01F0-4C8C6A6100A8}"/>
                  </a:ext>
                </a:extLst>
              </p:cNvPr>
              <p:cNvPicPr/>
              <p:nvPr/>
            </p:nvPicPr>
            <p:blipFill>
              <a:blip r:embed="rId5"/>
              <a:stretch>
                <a:fillRect/>
              </a:stretch>
            </p:blipFill>
            <p:spPr>
              <a:xfrm>
                <a:off x="-419145" y="6011083"/>
                <a:ext cx="12600" cy="12600"/>
              </a:xfrm>
              <a:prstGeom prst="rect">
                <a:avLst/>
              </a:prstGeom>
            </p:spPr>
          </p:pic>
        </mc:Fallback>
      </mc:AlternateContent>
      <p:sp>
        <p:nvSpPr>
          <p:cNvPr id="8" name="TextBox 7">
            <a:extLst>
              <a:ext uri="{FF2B5EF4-FFF2-40B4-BE49-F238E27FC236}">
                <a16:creationId xmlns:a16="http://schemas.microsoft.com/office/drawing/2014/main" id="{C23A67D6-C70A-7D6F-1C09-5E303787945D}"/>
              </a:ext>
            </a:extLst>
          </p:cNvPr>
          <p:cNvSpPr txBox="1"/>
          <p:nvPr/>
        </p:nvSpPr>
        <p:spPr>
          <a:xfrm>
            <a:off x="3581400" y="190500"/>
            <a:ext cx="12192000" cy="1015663"/>
          </a:xfrm>
          <a:prstGeom prst="rect">
            <a:avLst/>
          </a:prstGeom>
          <a:noFill/>
        </p:spPr>
        <p:txBody>
          <a:bodyPr wrap="square" rtlCol="0">
            <a:spAutoFit/>
          </a:bodyPr>
          <a:lstStyle/>
          <a:p>
            <a:r>
              <a:rPr lang="en-US" sz="6000" dirty="0">
                <a:latin typeface="Montserrat Bold" panose="020B0604020202020204" charset="0"/>
              </a:rPr>
              <a:t>DASHBOARD  INTERFACE</a:t>
            </a:r>
          </a:p>
        </p:txBody>
      </p:sp>
      <p:pic>
        <p:nvPicPr>
          <p:cNvPr id="10" name="Picture 9">
            <a:extLst>
              <a:ext uri="{FF2B5EF4-FFF2-40B4-BE49-F238E27FC236}">
                <a16:creationId xmlns:a16="http://schemas.microsoft.com/office/drawing/2014/main" id="{0EE3E571-0208-5B1C-89C4-99C3E8842793}"/>
              </a:ext>
            </a:extLst>
          </p:cNvPr>
          <p:cNvPicPr>
            <a:picLocks noChangeAspect="1"/>
          </p:cNvPicPr>
          <p:nvPr/>
        </p:nvPicPr>
        <p:blipFill>
          <a:blip r:embed="rId6"/>
          <a:stretch>
            <a:fillRect/>
          </a:stretch>
        </p:blipFill>
        <p:spPr>
          <a:xfrm>
            <a:off x="2096982" y="1206163"/>
            <a:ext cx="14094035" cy="6710742"/>
          </a:xfrm>
          <a:prstGeom prst="rect">
            <a:avLst/>
          </a:prstGeom>
        </p:spPr>
      </p:pic>
      <p:sp>
        <p:nvSpPr>
          <p:cNvPr id="12" name="TextBox 11">
            <a:hlinkClick r:id="rId7"/>
            <a:extLst>
              <a:ext uri="{FF2B5EF4-FFF2-40B4-BE49-F238E27FC236}">
                <a16:creationId xmlns:a16="http://schemas.microsoft.com/office/drawing/2014/main" id="{1E099AB1-ABD7-041D-FCF5-97B377F0B9B5}"/>
              </a:ext>
            </a:extLst>
          </p:cNvPr>
          <p:cNvSpPr txBox="1"/>
          <p:nvPr/>
        </p:nvSpPr>
        <p:spPr>
          <a:xfrm>
            <a:off x="145026" y="8804699"/>
            <a:ext cx="12192000" cy="369332"/>
          </a:xfrm>
          <a:prstGeom prst="rect">
            <a:avLst/>
          </a:prstGeom>
          <a:noFill/>
        </p:spPr>
        <p:txBody>
          <a:bodyPr wrap="square">
            <a:spAutoFit/>
          </a:bodyPr>
          <a:lstStyle/>
          <a:p>
            <a:r>
              <a:rPr lang="en-US" dirty="0">
                <a:latin typeface="Arial Black" panose="020B0A04020102020204" pitchFamily="34" charset="0"/>
                <a:hlinkClick r:id="rId8" action="ppaction://hlinksldjump"/>
              </a:rPr>
              <a:t>https://drive.google.com/file/d/1yPuH1c0k_oOb0QgqlO_QbKkCHWzLWa1J/view?usp=sharing</a:t>
            </a:r>
            <a:endParaRPr lang="en-US" dirty="0">
              <a:latin typeface="Arial Black" panose="020B0A04020102020204" pitchFamily="34" charset="0"/>
            </a:endParaRPr>
          </a:p>
        </p:txBody>
      </p:sp>
      <p:sp>
        <p:nvSpPr>
          <p:cNvPr id="13" name="TextBox 12">
            <a:extLst>
              <a:ext uri="{FF2B5EF4-FFF2-40B4-BE49-F238E27FC236}">
                <a16:creationId xmlns:a16="http://schemas.microsoft.com/office/drawing/2014/main" id="{E3A13E7E-2AA3-A794-D5E2-B24DD99D70D7}"/>
              </a:ext>
            </a:extLst>
          </p:cNvPr>
          <p:cNvSpPr txBox="1"/>
          <p:nvPr/>
        </p:nvSpPr>
        <p:spPr>
          <a:xfrm>
            <a:off x="145026" y="8229491"/>
            <a:ext cx="5638800" cy="461665"/>
          </a:xfrm>
          <a:prstGeom prst="rect">
            <a:avLst/>
          </a:prstGeom>
          <a:noFill/>
        </p:spPr>
        <p:txBody>
          <a:bodyPr wrap="square" rtlCol="0">
            <a:spAutoFit/>
          </a:bodyPr>
          <a:lstStyle/>
          <a:p>
            <a:r>
              <a:rPr lang="en-US" sz="2400" dirty="0">
                <a:latin typeface="Arial Black" panose="020B0A04020102020204" pitchFamily="34" charset="0"/>
              </a:rPr>
              <a:t>Dashboard Interface Video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CBF6"/>
        </a:solidFill>
        <a:effectLst/>
      </p:bgPr>
    </p:bg>
    <p:spTree>
      <p:nvGrpSpPr>
        <p:cNvPr id="1" name="">
          <a:extLst>
            <a:ext uri="{FF2B5EF4-FFF2-40B4-BE49-F238E27FC236}">
              <a16:creationId xmlns:a16="http://schemas.microsoft.com/office/drawing/2014/main" id="{8225DE0A-A2BF-9FCA-EF4A-7BEB91C204A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112DF05-BE70-5A2B-1155-690799356F9C}"/>
              </a:ext>
            </a:extLst>
          </p:cNvPr>
          <p:cNvSpPr txBox="1"/>
          <p:nvPr/>
        </p:nvSpPr>
        <p:spPr>
          <a:xfrm>
            <a:off x="5942200" y="4742187"/>
            <a:ext cx="6403600" cy="1088375"/>
          </a:xfrm>
          <a:prstGeom prst="rect">
            <a:avLst/>
          </a:prstGeom>
        </p:spPr>
        <p:txBody>
          <a:bodyPr lIns="0" tIns="0" rIns="0" bIns="0" rtlCol="0" anchor="t">
            <a:spAutoFit/>
          </a:bodyPr>
          <a:lstStyle/>
          <a:p>
            <a:pPr algn="l">
              <a:lnSpc>
                <a:spcPts val="4884"/>
              </a:lnSpc>
            </a:pPr>
            <a:r>
              <a:rPr lang="en-US" sz="6522" b="1" dirty="0">
                <a:solidFill>
                  <a:srgbClr val="2B0934"/>
                </a:solidFill>
                <a:latin typeface="Montserrat Bold"/>
                <a:ea typeface="Montserrat Bold"/>
                <a:cs typeface="Montserrat Bold"/>
                <a:sym typeface="Montserrat Bold"/>
              </a:rPr>
              <a:t> THANK YOU !! </a:t>
            </a:r>
          </a:p>
          <a:p>
            <a:pPr algn="ctr">
              <a:lnSpc>
                <a:spcPts val="6007"/>
              </a:lnSpc>
            </a:pPr>
            <a:endParaRPr lang="en-US" sz="6522" b="1" dirty="0">
              <a:solidFill>
                <a:srgbClr val="2B0934"/>
              </a:solidFill>
              <a:latin typeface="Montserrat Bold"/>
              <a:ea typeface="Montserrat Bold"/>
              <a:cs typeface="Montserrat Bold"/>
              <a:sym typeface="Montserrat Bold"/>
            </a:endParaRPr>
          </a:p>
        </p:txBody>
      </p:sp>
      <p:sp>
        <p:nvSpPr>
          <p:cNvPr id="3" name="TextBox 3">
            <a:extLst>
              <a:ext uri="{FF2B5EF4-FFF2-40B4-BE49-F238E27FC236}">
                <a16:creationId xmlns:a16="http://schemas.microsoft.com/office/drawing/2014/main" id="{E3397D15-BC33-0397-6A1E-F12DD7BDEC64}"/>
              </a:ext>
            </a:extLst>
          </p:cNvPr>
          <p:cNvSpPr txBox="1"/>
          <p:nvPr/>
        </p:nvSpPr>
        <p:spPr>
          <a:xfrm>
            <a:off x="10972800" y="6286500"/>
            <a:ext cx="6553200" cy="3620478"/>
          </a:xfrm>
          <a:prstGeom prst="rect">
            <a:avLst/>
          </a:prstGeom>
        </p:spPr>
        <p:txBody>
          <a:bodyPr wrap="square" lIns="0" tIns="0" rIns="0" bIns="0" rtlCol="0" anchor="t">
            <a:spAutoFit/>
          </a:bodyPr>
          <a:lstStyle/>
          <a:p>
            <a:pPr algn="l">
              <a:lnSpc>
                <a:spcPts val="7316"/>
              </a:lnSpc>
            </a:pPr>
            <a:r>
              <a:rPr lang="en-US" sz="2999" b="1" dirty="0">
                <a:solidFill>
                  <a:srgbClr val="2B0934"/>
                </a:solidFill>
                <a:latin typeface="DM Sans Bold"/>
                <a:ea typeface="DM Sans Bold"/>
                <a:cs typeface="DM Sans Bold"/>
                <a:sym typeface="DM Sans Bold"/>
              </a:rPr>
              <a:t>-TEAM CIPHER SQUAD</a:t>
            </a:r>
          </a:p>
          <a:p>
            <a:pPr algn="l">
              <a:lnSpc>
                <a:spcPts val="7316"/>
              </a:lnSpc>
            </a:pPr>
            <a:r>
              <a:rPr lang="en-US" sz="2999" b="1" dirty="0">
                <a:solidFill>
                  <a:srgbClr val="2B0934"/>
                </a:solidFill>
                <a:latin typeface="DM Sans Bold"/>
                <a:ea typeface="DM Sans Bold"/>
                <a:cs typeface="DM Sans Bold"/>
                <a:sym typeface="DM Sans Bold"/>
              </a:rPr>
              <a:t>         RANGALA NITHIN</a:t>
            </a:r>
          </a:p>
          <a:p>
            <a:pPr algn="l">
              <a:lnSpc>
                <a:spcPts val="7316"/>
              </a:lnSpc>
            </a:pPr>
            <a:r>
              <a:rPr lang="en-US" sz="2999" b="1" dirty="0">
                <a:solidFill>
                  <a:srgbClr val="2B0934"/>
                </a:solidFill>
                <a:latin typeface="DM Sans Bold"/>
                <a:ea typeface="DM Sans Bold"/>
                <a:cs typeface="DM Sans Bold"/>
                <a:sym typeface="DM Sans Bold"/>
              </a:rPr>
              <a:t>         MOSES GUNASEELAN</a:t>
            </a:r>
          </a:p>
          <a:p>
            <a:pPr algn="l">
              <a:lnSpc>
                <a:spcPts val="7316"/>
              </a:lnSpc>
            </a:pPr>
            <a:r>
              <a:rPr lang="en-US" sz="2999" b="1" dirty="0">
                <a:solidFill>
                  <a:srgbClr val="2B0934"/>
                </a:solidFill>
                <a:latin typeface="DM Sans Bold"/>
                <a:ea typeface="DM Sans Bold"/>
                <a:cs typeface="DM Sans Bold"/>
                <a:sym typeface="DM Sans Bold"/>
              </a:rPr>
              <a:t>         NITHIESH.M</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CDF507E-B80A-F0D3-AFAB-9E13858E4E9B}"/>
                  </a:ext>
                </a:extLst>
              </p14:cNvPr>
              <p14:cNvContentPartPr/>
              <p14:nvPr/>
            </p14:nvContentPartPr>
            <p14:xfrm>
              <a:off x="2304636" y="4809980"/>
              <a:ext cx="360" cy="360"/>
            </p14:xfrm>
          </p:contentPart>
        </mc:Choice>
        <mc:Fallback xmlns="">
          <p:pic>
            <p:nvPicPr>
              <p:cNvPr id="4" name="Ink 3">
                <a:extLst>
                  <a:ext uri="{FF2B5EF4-FFF2-40B4-BE49-F238E27FC236}">
                    <a16:creationId xmlns:a16="http://schemas.microsoft.com/office/drawing/2014/main" id="{DCDF507E-B80A-F0D3-AFAB-9E13858E4E9B}"/>
                  </a:ext>
                </a:extLst>
              </p:cNvPr>
              <p:cNvPicPr/>
              <p:nvPr/>
            </p:nvPicPr>
            <p:blipFill>
              <a:blip r:embed="rId3"/>
              <a:stretch>
                <a:fillRect/>
              </a:stretch>
            </p:blipFill>
            <p:spPr>
              <a:xfrm>
                <a:off x="2250636" y="4701980"/>
                <a:ext cx="108000" cy="216000"/>
              </a:xfrm>
              <a:prstGeom prst="rect">
                <a:avLst/>
              </a:prstGeom>
            </p:spPr>
          </p:pic>
        </mc:Fallback>
      </mc:AlternateContent>
    </p:spTree>
    <p:extLst>
      <p:ext uri="{BB962C8B-B14F-4D97-AF65-F5344CB8AC3E}">
        <p14:creationId xmlns:p14="http://schemas.microsoft.com/office/powerpoint/2010/main" val="1553480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299</Words>
  <Application>Microsoft Office PowerPoint</Application>
  <PresentationFormat>Custom</PresentationFormat>
  <Paragraphs>65</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Poppins</vt:lpstr>
      <vt:lpstr>Poppins Bold</vt:lpstr>
      <vt:lpstr>Arial Black</vt:lpstr>
      <vt:lpstr>Canva Sans</vt:lpstr>
      <vt:lpstr>Calibri</vt:lpstr>
      <vt:lpstr>Canva Sans Bold</vt:lpstr>
      <vt:lpstr>Arial</vt:lpstr>
      <vt:lpstr>DM Sans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cp:lastModifiedBy>rangala nithin</cp:lastModifiedBy>
  <cp:revision>4</cp:revision>
  <dcterms:created xsi:type="dcterms:W3CDTF">2006-08-16T00:00:00Z</dcterms:created>
  <dcterms:modified xsi:type="dcterms:W3CDTF">2026-01-13T06:52:34Z</dcterms:modified>
  <dc:identifier>DAG-NmYnxoo</dc:identifier>
</cp:coreProperties>
</file>